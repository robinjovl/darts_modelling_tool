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773" r:id="rId2"/>
    <p:sldId id="756" r:id="rId3"/>
    <p:sldId id="774" r:id="rId4"/>
    <p:sldId id="777" r:id="rId5"/>
    <p:sldId id="758" r:id="rId6"/>
    <p:sldId id="765" r:id="rId7"/>
    <p:sldId id="771" r:id="rId8"/>
    <p:sldId id="779" r:id="rId9"/>
    <p:sldId id="775" r:id="rId10"/>
    <p:sldId id="776" r:id="rId11"/>
    <p:sldId id="769" r:id="rId12"/>
    <p:sldId id="778" r:id="rId13"/>
    <p:sldId id="759" r:id="rId14"/>
    <p:sldId id="760" r:id="rId15"/>
    <p:sldId id="768" r:id="rId16"/>
    <p:sldId id="766" r:id="rId17"/>
    <p:sldId id="764" r:id="rId1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4F0B0-F3C8-42F6-8D89-78A962E35251}" type="datetimeFigureOut">
              <a:rPr lang="nl-NL" smtClean="0"/>
              <a:t>27-2-2025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CC1E61-8F82-4C85-B854-E4312D5B217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16777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CAD46-6E9C-9E0F-5579-9BDCA7906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2CBD6C-601C-63BC-62F7-45F3D4F532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D70E6-6DB0-C7FE-0A3F-1DF362C3A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8BEE4-2043-42AB-9728-EA397D458FA1}" type="datetimeFigureOut">
              <a:rPr lang="nl-NL" smtClean="0"/>
              <a:t>27-2-2025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2099C-5CC8-BD41-B057-DEC7B0382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38DDE-E927-3C71-6B82-02E018A82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E115-0438-4A48-8774-966584A553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803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6B95-00FD-BDC9-DABE-6588BE279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A11C0-BC10-10ED-9251-EBEFCFCEB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B9482-B6C3-9B13-FEFC-BC167CC9A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8BEE4-2043-42AB-9728-EA397D458FA1}" type="datetimeFigureOut">
              <a:rPr lang="nl-NL" smtClean="0"/>
              <a:t>27-2-2025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27A99-9E52-F2B0-00D7-1FA33F4E6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68EAB-C36F-5E56-1AC3-C87EA876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E115-0438-4A48-8774-966584A553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613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4AF8D-CD04-55AD-4497-A32D0EF0F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47042-62D3-1B40-8E79-98288491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9B561-FDD9-DA6F-30DA-E0732CFE5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8BEE4-2043-42AB-9728-EA397D458FA1}" type="datetimeFigureOut">
              <a:rPr lang="nl-NL" smtClean="0"/>
              <a:t>27-2-2025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52D08-DD65-8F35-C739-CC885E7C0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6C75A-2AD0-F97C-772E-B2DC7402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E115-0438-4A48-8774-966584A553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1042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ADB58-8902-59EA-455A-AAD3B5A87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C0009-4AA3-3F62-EDCB-35DA578328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3DC1B-1244-EA35-7158-2F1CF6126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50770-9F91-22AE-0EBF-B5DEB73CE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8BEE4-2043-42AB-9728-EA397D458FA1}" type="datetimeFigureOut">
              <a:rPr lang="nl-NL" smtClean="0"/>
              <a:t>27-2-2025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94E7E-5B20-5098-101B-E3FC66FCE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FD9AA-872D-1E2F-67CE-488CF428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E115-0438-4A48-8774-966584A553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7112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B479D-6471-2E0C-6DC7-2C308FE93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F8F0F-A3E7-17EC-4934-22ABFB396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4E8D9-0045-B198-0748-57E43E068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B0DF3E-A057-F8B5-E07E-44E2E7ED0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979EDF-FCE7-E4C6-2B64-99DB7F7B2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31B898-2E2B-1BE2-1441-60BA080D1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8BEE4-2043-42AB-9728-EA397D458FA1}" type="datetimeFigureOut">
              <a:rPr lang="nl-NL" smtClean="0"/>
              <a:t>27-2-2025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799867-B068-5050-7178-56ECA8634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4D2F31-6F47-C193-8241-5C5D2286B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E115-0438-4A48-8774-966584A553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182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64028-6FD3-2AE7-2F23-532ADB104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7D8955-0D0A-BFF4-14DD-7803663DE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8BEE4-2043-42AB-9728-EA397D458FA1}" type="datetimeFigureOut">
              <a:rPr lang="nl-NL" smtClean="0"/>
              <a:t>27-2-2025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62ACF-7342-0504-1A55-16BF26EA3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79639F-771C-E22D-71AB-76F4A2442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E115-0438-4A48-8774-966584A553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0955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0AB764-03A9-F53F-654C-AD896A07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8BEE4-2043-42AB-9728-EA397D458FA1}" type="datetimeFigureOut">
              <a:rPr lang="nl-NL" smtClean="0"/>
              <a:t>27-2-2025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32CB35-FA77-131F-26D8-CBCC458AC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DE3B0-8A51-5051-CD97-C17F98E2B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E115-0438-4A48-8774-966584A553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37779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86225-7397-24FF-CC4E-FA1E53526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EE3D3-DF86-31A8-0257-B2C86AFD8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92FBF-719E-C20C-A1F7-247341E8F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08ED6-430D-15F2-4B03-14AFDB582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8BEE4-2043-42AB-9728-EA397D458FA1}" type="datetimeFigureOut">
              <a:rPr lang="nl-NL" smtClean="0"/>
              <a:t>27-2-2025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098CD-2582-BF37-D42C-A7E993C03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075E8-8C0E-5EDE-37FB-8BD6D58C7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E115-0438-4A48-8774-966584A553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819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4BC60-834D-1A4C-E21F-66D2D0A7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94AE2A-BBB0-5F79-0534-C5C4B99F35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F93F5A-5480-79DF-04FD-65600BC3B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8D09A-7218-C007-EAD0-A6D21E3F2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8BEE4-2043-42AB-9728-EA397D458FA1}" type="datetimeFigureOut">
              <a:rPr lang="nl-NL" smtClean="0"/>
              <a:t>27-2-2025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E7803-D2DB-BC83-5B47-CE5CEC95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EEC42-D870-1C1B-4C0F-068AB075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E115-0438-4A48-8774-966584A553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79792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94789-C360-136D-8837-21F68129E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F5528-EB27-4C67-D8FF-C8F53B9F1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BB428-B4E5-13B6-663A-C6189143F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8BEE4-2043-42AB-9728-EA397D458FA1}" type="datetimeFigureOut">
              <a:rPr lang="nl-NL" smtClean="0"/>
              <a:t>27-2-2025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F43FF-27C9-B3BF-B6E0-675960BF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610A8-4F9C-16F8-1ADE-BA5BCE92D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E115-0438-4A48-8774-966584A553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8224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BDF320-ED3D-DE91-7897-0E3ED5EAFD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414D21-FB58-AD4B-4F64-AAE5ECDA2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D81FB-9D3D-2D74-0BEE-7B24DCA98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8BEE4-2043-42AB-9728-EA397D458FA1}" type="datetimeFigureOut">
              <a:rPr lang="nl-NL" smtClean="0"/>
              <a:t>27-2-2025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81465-33C3-6F23-1C11-53F05CD3A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66FCC-3070-2366-AC7F-5AE9C7086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E115-0438-4A48-8774-966584A553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03652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9813FD-A9A2-E113-70F4-1AC543CCC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92113-575B-1FD2-4B6D-B2CAA441B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D8910-A403-C5CB-9F72-84B74D4648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38BEE4-2043-42AB-9728-EA397D458FA1}" type="datetimeFigureOut">
              <a:rPr lang="nl-NL" smtClean="0"/>
              <a:t>27-2-2025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00651-CA94-D060-6B13-D0CA1F942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6F5B8-D7B7-9612-CDD6-48DC8EE3F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00E115-0438-4A48-8774-966584A553E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780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open-darts.gitlab.io/open-DARTS/for_developers/configure_hardware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51D70-0B16-25CC-F1EF-D1EBFC48D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model description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EBABA-CA63-56B2-9CEF-0371ED0EA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24" y="1544967"/>
            <a:ext cx="10515600" cy="484677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This example contains: </a:t>
            </a:r>
          </a:p>
          <a:p>
            <a:r>
              <a:rPr lang="en-GB" dirty="0"/>
              <a:t>CPG (Corner Point Geometry) grid setup</a:t>
            </a:r>
          </a:p>
          <a:p>
            <a:r>
              <a:rPr lang="en-GB" dirty="0"/>
              <a:t>Few grid and rock properties setup:</a:t>
            </a:r>
          </a:p>
          <a:p>
            <a:pPr lvl="1"/>
            <a:r>
              <a:rPr lang="en-GB" dirty="0"/>
              <a:t>mesh generation</a:t>
            </a:r>
          </a:p>
          <a:p>
            <a:pPr lvl="1"/>
            <a:r>
              <a:rPr lang="en-GB" dirty="0"/>
              <a:t>input files (</a:t>
            </a:r>
            <a:r>
              <a:rPr lang="en-GB" dirty="0" err="1"/>
              <a:t>grdecl</a:t>
            </a:r>
            <a:r>
              <a:rPr lang="en-GB" dirty="0"/>
              <a:t>)</a:t>
            </a:r>
          </a:p>
          <a:p>
            <a:r>
              <a:rPr lang="en-GB" dirty="0"/>
              <a:t>Physics:</a:t>
            </a:r>
          </a:p>
          <a:p>
            <a:pPr lvl="1"/>
            <a:r>
              <a:rPr lang="en-GB" dirty="0"/>
              <a:t>Geothermal </a:t>
            </a:r>
          </a:p>
          <a:p>
            <a:pPr lvl="1"/>
            <a:r>
              <a:rPr lang="en-GB" dirty="0" err="1"/>
              <a:t>Deadoil</a:t>
            </a:r>
            <a:r>
              <a:rPr lang="en-GB" dirty="0"/>
              <a:t> (isothermal)</a:t>
            </a:r>
          </a:p>
          <a:p>
            <a:r>
              <a:rPr lang="en-GB" dirty="0"/>
              <a:t>Well perforation definition:</a:t>
            </a:r>
          </a:p>
          <a:p>
            <a:pPr lvl="1"/>
            <a:r>
              <a:rPr lang="en-GB" dirty="0"/>
              <a:t>using Python code (XYZ and IJK)</a:t>
            </a:r>
          </a:p>
          <a:p>
            <a:pPr lvl="1"/>
            <a:r>
              <a:rPr lang="en-GB" dirty="0"/>
              <a:t>using SCH file (COMPDAT)</a:t>
            </a:r>
          </a:p>
          <a:p>
            <a:r>
              <a:rPr lang="en-GB" dirty="0"/>
              <a:t>Well controls</a:t>
            </a:r>
          </a:p>
          <a:p>
            <a:pPr lvl="1"/>
            <a:r>
              <a:rPr lang="en-GB" dirty="0"/>
              <a:t>BHP</a:t>
            </a:r>
          </a:p>
          <a:p>
            <a:pPr lvl="1"/>
            <a:r>
              <a:rPr lang="en-GB" dirty="0"/>
              <a:t>Rate with BHP constraint</a:t>
            </a:r>
          </a:p>
          <a:p>
            <a:pPr lvl="1"/>
            <a:r>
              <a:rPr lang="en-GB" dirty="0"/>
              <a:t>Cyclic production and injection</a:t>
            </a:r>
          </a:p>
          <a:p>
            <a:endParaRPr lang="en-GB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93457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5643E-9F2C-406C-3B4B-B57A66161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DARTS Model and inheritance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0A96E-A2D6-2C53-6E6B-8C14343E9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2673" y="3342554"/>
            <a:ext cx="2274455" cy="511175"/>
          </a:xfrm>
        </p:spPr>
        <p:txBody>
          <a:bodyPr/>
          <a:lstStyle/>
          <a:p>
            <a:pPr marL="0" indent="0">
              <a:buNone/>
            </a:pPr>
            <a:r>
              <a:rPr lang="en-GB" dirty="0" err="1"/>
              <a:t>Model_CPG</a:t>
            </a:r>
            <a:endParaRPr lang="nl-NL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043272-C4D7-5ADE-B427-0AC34A2B5017}"/>
              </a:ext>
            </a:extLst>
          </p:cNvPr>
          <p:cNvSpPr txBox="1">
            <a:spLocks/>
          </p:cNvSpPr>
          <p:nvPr/>
        </p:nvSpPr>
        <p:spPr>
          <a:xfrm>
            <a:off x="2073563" y="4428693"/>
            <a:ext cx="3117273" cy="7273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err="1"/>
              <a:t>Model_Geothermal</a:t>
            </a:r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5094488-9126-AECE-A0D6-F36FF14AC0C4}"/>
              </a:ext>
            </a:extLst>
          </p:cNvPr>
          <p:cNvSpPr txBox="1">
            <a:spLocks/>
          </p:cNvSpPr>
          <p:nvPr/>
        </p:nvSpPr>
        <p:spPr>
          <a:xfrm>
            <a:off x="6136460" y="4384678"/>
            <a:ext cx="3117273" cy="727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err="1"/>
              <a:t>Model_DeadOil</a:t>
            </a:r>
            <a:endParaRPr lang="nl-N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E267521-F340-9FAB-808E-FA638164D324}"/>
              </a:ext>
            </a:extLst>
          </p:cNvPr>
          <p:cNvSpPr txBox="1">
            <a:spLocks/>
          </p:cNvSpPr>
          <p:nvPr/>
        </p:nvSpPr>
        <p:spPr>
          <a:xfrm>
            <a:off x="4412673" y="2272579"/>
            <a:ext cx="2274455" cy="51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err="1"/>
              <a:t>DARTSModel</a:t>
            </a:r>
            <a:endParaRPr lang="nl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4CD52-4033-CCB6-3D0E-5F4756D4E6B5}"/>
              </a:ext>
            </a:extLst>
          </p:cNvPr>
          <p:cNvSpPr txBox="1"/>
          <p:nvPr/>
        </p:nvSpPr>
        <p:spPr>
          <a:xfrm>
            <a:off x="7553139" y="2300722"/>
            <a:ext cx="3401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1"/>
                </a:solidFill>
              </a:rPr>
              <a:t>A part of open- DARTS package</a:t>
            </a:r>
            <a:endParaRPr lang="nl-N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185DD6-3274-0D91-17FE-6DB99C927C16}"/>
              </a:ext>
            </a:extLst>
          </p:cNvPr>
          <p:cNvSpPr/>
          <p:nvPr/>
        </p:nvSpPr>
        <p:spPr>
          <a:xfrm>
            <a:off x="1653310" y="3260436"/>
            <a:ext cx="7832436" cy="189562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06CC2E-A949-BB6E-9DC0-0161660BB843}"/>
              </a:ext>
            </a:extLst>
          </p:cNvPr>
          <p:cNvSpPr txBox="1"/>
          <p:nvPr/>
        </p:nvSpPr>
        <p:spPr>
          <a:xfrm rot="16200000">
            <a:off x="519724" y="3811996"/>
            <a:ext cx="1895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1"/>
                </a:solidFill>
              </a:rPr>
              <a:t>The model files</a:t>
            </a:r>
            <a:endParaRPr lang="nl-NL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FA0780F-CF5C-2417-061C-7E0FBB5485FC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549901" y="2783754"/>
            <a:ext cx="0" cy="3843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520173E-6EB0-07F1-A467-D3078399B9EE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rot="5400000">
            <a:off x="4303569" y="3182361"/>
            <a:ext cx="574964" cy="19177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894EA55-02E4-EC45-AF89-A00A4A0C243D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rot="16200000" flipH="1">
            <a:off x="6357025" y="3046605"/>
            <a:ext cx="530949" cy="2145196"/>
          </a:xfrm>
          <a:prstGeom prst="bentConnector3">
            <a:avLst>
              <a:gd name="adj1" fmla="val 5174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18012EF-E3E1-EDA1-98A2-BE2115F09A72}"/>
              </a:ext>
            </a:extLst>
          </p:cNvPr>
          <p:cNvSpPr txBox="1"/>
          <p:nvPr/>
        </p:nvSpPr>
        <p:spPr>
          <a:xfrm>
            <a:off x="9865616" y="3330508"/>
            <a:ext cx="13300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1"/>
                </a:solidFill>
              </a:rPr>
              <a:t>Reservoir related code</a:t>
            </a:r>
            <a:endParaRPr lang="nl-N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3398A2-BE28-8B40-AC8E-259C9B643164}"/>
              </a:ext>
            </a:extLst>
          </p:cNvPr>
          <p:cNvSpPr txBox="1"/>
          <p:nvPr/>
        </p:nvSpPr>
        <p:spPr>
          <a:xfrm>
            <a:off x="9865616" y="4269155"/>
            <a:ext cx="13300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1"/>
                </a:solidFill>
              </a:rPr>
              <a:t>Physics related code</a:t>
            </a:r>
          </a:p>
        </p:txBody>
      </p:sp>
    </p:spTree>
    <p:extLst>
      <p:ext uri="{BB962C8B-B14F-4D97-AF65-F5344CB8AC3E}">
        <p14:creationId xmlns:p14="http://schemas.microsoft.com/office/powerpoint/2010/main" val="3128282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97311-1D47-F2FD-11AD-CA4FC9D0E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45AD2-DD30-CADF-992B-85CA00DD0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files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39EDA-60BE-A1B0-96BC-E2E4B2F3B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1936" y="1648781"/>
            <a:ext cx="2274455" cy="5111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case_base.py</a:t>
            </a:r>
            <a:endParaRPr lang="nl-NL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CC1BE3-BC05-A0A3-817E-6EAED7084DC3}"/>
              </a:ext>
            </a:extLst>
          </p:cNvPr>
          <p:cNvSpPr txBox="1">
            <a:spLocks/>
          </p:cNvSpPr>
          <p:nvPr/>
        </p:nvSpPr>
        <p:spPr>
          <a:xfrm>
            <a:off x="932826" y="2734920"/>
            <a:ext cx="3117273" cy="727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case_40x40x10.py</a:t>
            </a:r>
            <a:endParaRPr lang="nl-NL" sz="2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137D83D-879F-E23E-8223-E429F53D16B3}"/>
              </a:ext>
            </a:extLst>
          </p:cNvPr>
          <p:cNvSpPr txBox="1">
            <a:spLocks/>
          </p:cNvSpPr>
          <p:nvPr/>
        </p:nvSpPr>
        <p:spPr>
          <a:xfrm>
            <a:off x="4241459" y="2746774"/>
            <a:ext cx="3912189" cy="7273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case_generate_5x3x4.py</a:t>
            </a:r>
            <a:endParaRPr lang="nl-N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95EBEF-451A-25DA-1196-36AEFB851CE8}"/>
              </a:ext>
            </a:extLst>
          </p:cNvPr>
          <p:cNvSpPr/>
          <p:nvPr/>
        </p:nvSpPr>
        <p:spPr>
          <a:xfrm>
            <a:off x="512573" y="1566663"/>
            <a:ext cx="7832436" cy="189562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2A79A-42AB-1661-D06D-D34566D9FF97}"/>
              </a:ext>
            </a:extLst>
          </p:cNvPr>
          <p:cNvSpPr txBox="1"/>
          <p:nvPr/>
        </p:nvSpPr>
        <p:spPr>
          <a:xfrm rot="16200000">
            <a:off x="-589147" y="1964594"/>
            <a:ext cx="1895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1"/>
                </a:solidFill>
              </a:rPr>
              <a:t>Case files</a:t>
            </a:r>
            <a:endParaRPr lang="nl-NL" dirty="0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18DE4A4A-97B2-7EDA-C5B6-7EED31A43F2C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rot="5400000">
            <a:off x="3162832" y="1488588"/>
            <a:ext cx="574964" cy="19177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ACEF23B7-2F80-5170-D286-76CCB681103A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rot="16200000" flipH="1">
            <a:off x="5009950" y="1559170"/>
            <a:ext cx="586818" cy="178839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6C9D21D-6CCD-BD7E-1DB0-FE7463873109}"/>
              </a:ext>
            </a:extLst>
          </p:cNvPr>
          <p:cNvSpPr txBox="1"/>
          <p:nvPr/>
        </p:nvSpPr>
        <p:spPr>
          <a:xfrm>
            <a:off x="8408763" y="1750479"/>
            <a:ext cx="1795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1"/>
                </a:solidFill>
              </a:rPr>
              <a:t>Common setup</a:t>
            </a:r>
            <a:endParaRPr lang="nl-N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04541B-B49C-EFC3-6542-36DD64F7999D}"/>
              </a:ext>
            </a:extLst>
          </p:cNvPr>
          <p:cNvSpPr txBox="1"/>
          <p:nvPr/>
        </p:nvSpPr>
        <p:spPr>
          <a:xfrm>
            <a:off x="8474999" y="2537215"/>
            <a:ext cx="15990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1"/>
                </a:solidFill>
              </a:rPr>
              <a:t>Each case can overwrite some properties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887E47-4B0B-5046-AADC-8229F64E5522}"/>
              </a:ext>
            </a:extLst>
          </p:cNvPr>
          <p:cNvSpPr txBox="1"/>
          <p:nvPr/>
        </p:nvSpPr>
        <p:spPr>
          <a:xfrm>
            <a:off x="512573" y="3610181"/>
            <a:ext cx="92336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A synthetic grid can be generated or can be read from .</a:t>
            </a:r>
            <a:r>
              <a:rPr kumimoji="0" lang="en-US" altLang="nl-NL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grdecl</a:t>
            </a:r>
            <a:r>
              <a:rPr kumimoji="0" lang="en-US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files </a:t>
            </a:r>
          </a:p>
          <a:p>
            <a:endParaRPr lang="en-US" altLang="nl-NL" dirty="0">
              <a:solidFill>
                <a:srgbClr val="080808"/>
              </a:solidFill>
              <a:latin typeface="Arial Unicode MS"/>
            </a:endParaRPr>
          </a:p>
          <a:p>
            <a:r>
              <a:rPr kumimoji="0" lang="en-US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Defined in case_base.py:</a:t>
            </a:r>
          </a:p>
          <a:p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nl-NL" dirty="0" err="1">
                <a:latin typeface="Calibri" panose="020F0502020204030204" pitchFamily="34" charset="0"/>
                <a:cs typeface="Calibri" panose="020F0502020204030204" pitchFamily="34" charset="0"/>
              </a:rPr>
              <a:t>idata.generate_grid</a:t>
            </a: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 = '</a:t>
            </a:r>
            <a:r>
              <a:rPr lang="nl-NL" dirty="0" err="1">
                <a:latin typeface="Calibri" panose="020F0502020204030204" pitchFamily="34" charset="0"/>
                <a:cs typeface="Calibri" panose="020F0502020204030204" pitchFamily="34" charset="0"/>
              </a:rPr>
              <a:t>generate</a:t>
            </a: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' in case</a:t>
            </a:r>
          </a:p>
          <a:p>
            <a:endParaRPr lang="nl-NL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35DFD19-DD72-40A2-727E-74048E483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30" y="5650396"/>
            <a:ext cx="4419600" cy="6572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0E00D2F-58A9-6888-72C5-E1064C202FB2}"/>
              </a:ext>
            </a:extLst>
          </p:cNvPr>
          <p:cNvSpPr txBox="1"/>
          <p:nvPr/>
        </p:nvSpPr>
        <p:spPr>
          <a:xfrm>
            <a:off x="512572" y="5004065"/>
            <a:ext cx="49285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80808"/>
                </a:solidFill>
                <a:latin typeface="Arial Unicode MS"/>
              </a:rPr>
              <a:t>Copy everything from the “base” (or your own) case and overwrite only what is needed: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256B2BC-DE63-7E31-5834-C1120435C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648" y="4188323"/>
            <a:ext cx="3895725" cy="24669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6B4EA6F-42BE-B061-9E98-EBC3A2C3872A}"/>
              </a:ext>
            </a:extLst>
          </p:cNvPr>
          <p:cNvSpPr txBox="1"/>
          <p:nvPr/>
        </p:nvSpPr>
        <p:spPr>
          <a:xfrm>
            <a:off x="8201926" y="3575156"/>
            <a:ext cx="37395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80808"/>
                </a:solidFill>
                <a:latin typeface="Arial Unicode MS"/>
              </a:rPr>
              <a:t>Selecting a case by its name (set_case.py):</a:t>
            </a:r>
          </a:p>
        </p:txBody>
      </p:sp>
    </p:spTree>
    <p:extLst>
      <p:ext uri="{BB962C8B-B14F-4D97-AF65-F5344CB8AC3E}">
        <p14:creationId xmlns:p14="http://schemas.microsoft.com/office/powerpoint/2010/main" val="3643693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78531-E083-CAC4-7CE6-9894D151D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5F8F2-1292-C976-A542-9BA9901A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Grid generation</a:t>
            </a:r>
            <a:endParaRPr lang="nl-N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8C24CB-7C16-EA7D-DB09-43A88BEE961F}"/>
              </a:ext>
            </a:extLst>
          </p:cNvPr>
          <p:cNvSpPr txBox="1"/>
          <p:nvPr/>
        </p:nvSpPr>
        <p:spPr>
          <a:xfrm>
            <a:off x="1214038" y="1412252"/>
            <a:ext cx="923366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The </a:t>
            </a:r>
            <a:r>
              <a:rPr lang="nl-NL" dirty="0" err="1"/>
              <a:t>grid</a:t>
            </a:r>
            <a:r>
              <a:rPr lang="nl-NL" dirty="0"/>
              <a:t> is </a:t>
            </a:r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a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b="1" dirty="0" err="1"/>
              <a:t>gen_cpg_grid</a:t>
            </a:r>
            <a:r>
              <a:rPr lang="nl-NL" b="1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</a:p>
          <a:p>
            <a:endParaRPr lang="nl-NL" dirty="0"/>
          </a:p>
          <a:p>
            <a:r>
              <a:rPr lang="nl-NL" dirty="0" err="1"/>
              <a:t>with</a:t>
            </a:r>
            <a:r>
              <a:rPr lang="nl-NL" dirty="0"/>
              <a:t> a </a:t>
            </a:r>
            <a:r>
              <a:rPr lang="nl-NL" dirty="0" err="1"/>
              <a:t>regular</a:t>
            </a:r>
            <a:r>
              <a:rPr lang="nl-NL" dirty="0"/>
              <a:t>  </a:t>
            </a:r>
            <a:r>
              <a:rPr lang="nl-NL" dirty="0" err="1"/>
              <a:t>layers</a:t>
            </a:r>
            <a:r>
              <a:rPr lang="nl-NL" dirty="0"/>
              <a:t> </a:t>
            </a:r>
            <a:r>
              <a:rPr lang="nl-NL" dirty="0" err="1"/>
              <a:t>thickness</a:t>
            </a:r>
            <a:r>
              <a:rPr lang="nl-NL" dirty="0"/>
              <a:t>:</a:t>
            </a:r>
          </a:p>
          <a:p>
            <a:endParaRPr lang="nl-NL" dirty="0"/>
          </a:p>
          <a:p>
            <a:pPr lvl="1"/>
            <a:r>
              <a:rPr kumimoji="0" lang="en-US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Defined in </a:t>
            </a:r>
            <a:r>
              <a:rPr lang="en-GB" dirty="0"/>
              <a:t>case_generate_51x51x1.py</a:t>
            </a:r>
            <a:r>
              <a:rPr kumimoji="0" lang="en-US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:</a:t>
            </a:r>
            <a:endParaRPr lang="nl-NL" dirty="0"/>
          </a:p>
          <a:p>
            <a:pPr lvl="1"/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nl-NL" dirty="0" err="1">
                <a:latin typeface="Calibri" panose="020F0502020204030204" pitchFamily="34" charset="0"/>
                <a:cs typeface="Calibri" panose="020F0502020204030204" pitchFamily="34" charset="0"/>
              </a:rPr>
              <a:t>geom.nx</a:t>
            </a: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 = 51</a:t>
            </a:r>
          </a:p>
          <a:p>
            <a:pPr lvl="1"/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nl-NL" dirty="0" err="1">
                <a:latin typeface="Calibri" panose="020F0502020204030204" pitchFamily="34" charset="0"/>
                <a:cs typeface="Calibri" panose="020F0502020204030204" pitchFamily="34" charset="0"/>
              </a:rPr>
              <a:t>geom.ny</a:t>
            </a: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 = 51</a:t>
            </a:r>
          </a:p>
          <a:p>
            <a:pPr lvl="1"/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    geom.nz = 1</a:t>
            </a:r>
          </a:p>
          <a:p>
            <a:pPr lvl="1"/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nl-NL" dirty="0" err="1">
                <a:latin typeface="Calibri" panose="020F0502020204030204" pitchFamily="34" charset="0"/>
                <a:cs typeface="Calibri" panose="020F0502020204030204" pitchFamily="34" charset="0"/>
              </a:rPr>
              <a:t>geom.dx</a:t>
            </a: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 = 4000. / </a:t>
            </a:r>
            <a:r>
              <a:rPr lang="nl-NL" dirty="0" err="1">
                <a:latin typeface="Calibri" panose="020F0502020204030204" pitchFamily="34" charset="0"/>
                <a:cs typeface="Calibri" panose="020F0502020204030204" pitchFamily="34" charset="0"/>
              </a:rPr>
              <a:t>geom.nx</a:t>
            </a:r>
            <a:endParaRPr lang="nl-N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nl-NL" dirty="0" err="1">
                <a:latin typeface="Calibri" panose="020F0502020204030204" pitchFamily="34" charset="0"/>
                <a:cs typeface="Calibri" panose="020F0502020204030204" pitchFamily="34" charset="0"/>
              </a:rPr>
              <a:t>geom.dy</a:t>
            </a: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nl-NL" dirty="0" err="1">
                <a:latin typeface="Calibri" panose="020F0502020204030204" pitchFamily="34" charset="0"/>
                <a:cs typeface="Calibri" panose="020F0502020204030204" pitchFamily="34" charset="0"/>
              </a:rPr>
              <a:t>geom.dx</a:t>
            </a:r>
            <a:endParaRPr lang="nl-N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    geom.dz = 100. / geom.nz</a:t>
            </a:r>
          </a:p>
          <a:p>
            <a:endParaRPr lang="nl-NL" dirty="0"/>
          </a:p>
          <a:p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irregular</a:t>
            </a:r>
            <a:r>
              <a:rPr lang="nl-NL" dirty="0"/>
              <a:t> </a:t>
            </a:r>
            <a:r>
              <a:rPr lang="nl-NL" dirty="0" err="1"/>
              <a:t>layers</a:t>
            </a:r>
            <a:r>
              <a:rPr lang="nl-NL" dirty="0"/>
              <a:t> </a:t>
            </a:r>
            <a:r>
              <a:rPr lang="nl-NL" dirty="0" err="1"/>
              <a:t>thickness</a:t>
            </a:r>
            <a:r>
              <a:rPr lang="nl-NL" dirty="0"/>
              <a:t>:</a:t>
            </a:r>
          </a:p>
          <a:p>
            <a:endParaRPr lang="nl-NL" dirty="0"/>
          </a:p>
          <a:p>
            <a:pPr lvl="1"/>
            <a:r>
              <a:rPr kumimoji="0" lang="en-US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Defined in </a:t>
            </a:r>
            <a:r>
              <a:rPr lang="en-GB" dirty="0"/>
              <a:t>case_generate_5x3x4.py</a:t>
            </a:r>
            <a:r>
              <a:rPr kumimoji="0" lang="en-US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:</a:t>
            </a:r>
            <a:endParaRPr lang="nl-NL" dirty="0"/>
          </a:p>
          <a:p>
            <a:pPr lvl="1"/>
            <a:r>
              <a:rPr lang="nl-NL" dirty="0"/>
              <a:t>  </a:t>
            </a:r>
            <a:r>
              <a:rPr lang="nl-NL" dirty="0" err="1">
                <a:latin typeface="Calibri" panose="020F0502020204030204" pitchFamily="34" charset="0"/>
                <a:cs typeface="Calibri" panose="020F0502020204030204" pitchFamily="34" charset="0"/>
              </a:rPr>
              <a:t>geom.dx</a:t>
            </a: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nl-NL" dirty="0" err="1">
                <a:latin typeface="Calibri" panose="020F0502020204030204" pitchFamily="34" charset="0"/>
                <a:cs typeface="Calibri" panose="020F0502020204030204" pitchFamily="34" charset="0"/>
              </a:rPr>
              <a:t>np.array</a:t>
            </a: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([500, 200, 100, 300, 500])</a:t>
            </a:r>
          </a:p>
          <a:p>
            <a:pPr lvl="1"/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nl-NL" dirty="0" err="1">
                <a:latin typeface="Calibri" panose="020F0502020204030204" pitchFamily="34" charset="0"/>
                <a:cs typeface="Calibri" panose="020F0502020204030204" pitchFamily="34" charset="0"/>
              </a:rPr>
              <a:t>geom.dy</a:t>
            </a: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nl-NL" dirty="0" err="1">
                <a:latin typeface="Calibri" panose="020F0502020204030204" pitchFamily="34" charset="0"/>
                <a:cs typeface="Calibri" panose="020F0502020204030204" pitchFamily="34" charset="0"/>
              </a:rPr>
              <a:t>np.array</a:t>
            </a: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([1000, 700, 300])</a:t>
            </a:r>
          </a:p>
          <a:p>
            <a:pPr lvl="1"/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  geom.dz = </a:t>
            </a:r>
            <a:r>
              <a:rPr lang="nl-NL" dirty="0" err="1">
                <a:latin typeface="Calibri" panose="020F0502020204030204" pitchFamily="34" charset="0"/>
                <a:cs typeface="Calibri" panose="020F0502020204030204" pitchFamily="34" charset="0"/>
              </a:rPr>
              <a:t>np.array</a:t>
            </a: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([100, 150, 180, 120])</a:t>
            </a:r>
          </a:p>
        </p:txBody>
      </p:sp>
    </p:spTree>
    <p:extLst>
      <p:ext uri="{BB962C8B-B14F-4D97-AF65-F5344CB8AC3E}">
        <p14:creationId xmlns:p14="http://schemas.microsoft.com/office/powerpoint/2010/main" val="1334067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1E38618-F611-31CB-0E6B-9DC024A21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296" y="2329528"/>
            <a:ext cx="942975" cy="457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623B41-B772-F367-35AD-B52DBD48D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127E25-F9EE-C4C3-2FE2-D6474911F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63" y="2196153"/>
            <a:ext cx="2533650" cy="17811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E3D436-577A-0BC1-C957-C0AEA9D97E7F}"/>
              </a:ext>
            </a:extLst>
          </p:cNvPr>
          <p:cNvSpPr txBox="1"/>
          <p:nvPr/>
        </p:nvSpPr>
        <p:spPr>
          <a:xfrm>
            <a:off x="4203851" y="1336745"/>
            <a:ext cx="24928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/>
              <a:t>Input files in Eclipse format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(</a:t>
            </a:r>
            <a:r>
              <a:rPr lang="en-US" sz="2000" dirty="0" err="1"/>
              <a:t>grdecl</a:t>
            </a:r>
            <a:r>
              <a:rPr lang="en-US" sz="2000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C559C7-FD43-3DFF-8B30-05DDECC73E05}"/>
              </a:ext>
            </a:extLst>
          </p:cNvPr>
          <p:cNvSpPr txBox="1"/>
          <p:nvPr/>
        </p:nvSpPr>
        <p:spPr>
          <a:xfrm>
            <a:off x="4365983" y="4205257"/>
            <a:ext cx="3989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/>
              <a:t>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0B77F3-0DF4-2F9D-37DF-16065B109427}"/>
              </a:ext>
            </a:extLst>
          </p:cNvPr>
          <p:cNvSpPr txBox="1"/>
          <p:nvPr/>
        </p:nvSpPr>
        <p:spPr>
          <a:xfrm>
            <a:off x="140627" y="4887095"/>
            <a:ext cx="14703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/>
              <a:t>Model 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scripts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C051292-7931-3D49-A276-E1F1348F2F74}"/>
              </a:ext>
            </a:extLst>
          </p:cNvPr>
          <p:cNvSpPr/>
          <p:nvPr/>
        </p:nvSpPr>
        <p:spPr>
          <a:xfrm>
            <a:off x="725097" y="3419071"/>
            <a:ext cx="2683663" cy="92195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26896CA-E294-6E3B-E788-2F312CA5A108}"/>
              </a:ext>
            </a:extLst>
          </p:cNvPr>
          <p:cNvSpPr/>
          <p:nvPr/>
        </p:nvSpPr>
        <p:spPr>
          <a:xfrm>
            <a:off x="721703" y="2424202"/>
            <a:ext cx="2687057" cy="994870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D7451A8-2610-21BD-B4FE-48BE1D8F7741}"/>
              </a:ext>
            </a:extLst>
          </p:cNvPr>
          <p:cNvSpPr/>
          <p:nvPr/>
        </p:nvSpPr>
        <p:spPr>
          <a:xfrm>
            <a:off x="721703" y="2114699"/>
            <a:ext cx="2687057" cy="298916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69FD06E-62B4-FDD4-CAF4-2A21465E8381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3408760" y="1828263"/>
            <a:ext cx="1259139" cy="43589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D19D3D9-7C5F-5962-7FB3-EAF5102BCB38}"/>
              </a:ext>
            </a:extLst>
          </p:cNvPr>
          <p:cNvCxnSpPr>
            <a:cxnSpLocks/>
            <a:stCxn id="15" idx="3"/>
            <a:endCxn id="12" idx="1"/>
          </p:cNvCxnSpPr>
          <p:nvPr/>
        </p:nvCxnSpPr>
        <p:spPr>
          <a:xfrm>
            <a:off x="3408760" y="2921637"/>
            <a:ext cx="957223" cy="14836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4C1030D-C00B-57B7-1A93-B83029632991}"/>
              </a:ext>
            </a:extLst>
          </p:cNvPr>
          <p:cNvSpPr/>
          <p:nvPr/>
        </p:nvSpPr>
        <p:spPr>
          <a:xfrm>
            <a:off x="4753802" y="2366888"/>
            <a:ext cx="1608898" cy="209580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A77CA85-70C0-8F35-455E-3FCBC092D164}"/>
              </a:ext>
            </a:extLst>
          </p:cNvPr>
          <p:cNvSpPr/>
          <p:nvPr/>
        </p:nvSpPr>
        <p:spPr>
          <a:xfrm>
            <a:off x="4762672" y="2574839"/>
            <a:ext cx="1608898" cy="209580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C0A43472-4519-D0EE-0310-4D3059A8DFA8}"/>
              </a:ext>
            </a:extLst>
          </p:cNvPr>
          <p:cNvCxnSpPr>
            <a:cxnSpLocks/>
            <a:stCxn id="34" idx="3"/>
            <a:endCxn id="44" idx="1"/>
          </p:cNvCxnSpPr>
          <p:nvPr/>
        </p:nvCxnSpPr>
        <p:spPr>
          <a:xfrm flipV="1">
            <a:off x="6371570" y="2555084"/>
            <a:ext cx="1372289" cy="1245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8F685D47-B2F0-4EB6-3533-5B7444B00BC7}"/>
              </a:ext>
            </a:extLst>
          </p:cNvPr>
          <p:cNvCxnSpPr>
            <a:cxnSpLocks/>
            <a:endCxn id="43" idx="1"/>
          </p:cNvCxnSpPr>
          <p:nvPr/>
        </p:nvCxnSpPr>
        <p:spPr>
          <a:xfrm flipV="1">
            <a:off x="6371570" y="1738630"/>
            <a:ext cx="1378534" cy="7229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AC035D9-7060-F4E1-6CC5-04F04AEFDFE8}"/>
              </a:ext>
            </a:extLst>
          </p:cNvPr>
          <p:cNvSpPr txBox="1"/>
          <p:nvPr/>
        </p:nvSpPr>
        <p:spPr>
          <a:xfrm>
            <a:off x="7750104" y="1323131"/>
            <a:ext cx="3989602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/>
              <a:t>Grid 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Keywords: SPECGRID, COORD, ZCORN,  ACTNUM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651C02-3432-5F09-25B4-9BB072E49D9E}"/>
              </a:ext>
            </a:extLst>
          </p:cNvPr>
          <p:cNvSpPr txBox="1"/>
          <p:nvPr/>
        </p:nvSpPr>
        <p:spPr>
          <a:xfrm>
            <a:off x="7743859" y="2247307"/>
            <a:ext cx="3989602" cy="6155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/>
              <a:t>Rock properties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Keywords: PORO, PERMX, [PERMY, PERMZ]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B0DA4B4-8462-8C46-F8A9-0DEA4B48F8B6}"/>
              </a:ext>
            </a:extLst>
          </p:cNvPr>
          <p:cNvSpPr txBox="1"/>
          <p:nvPr/>
        </p:nvSpPr>
        <p:spPr>
          <a:xfrm>
            <a:off x="214249" y="1730124"/>
            <a:ext cx="25336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/>
              <a:t>Model folder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BC0E88-1C74-472E-CDF0-3121A1D79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096" y="5765251"/>
            <a:ext cx="1543702" cy="4395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65598A-D244-5CE2-5AE1-8A6AC513B2D2}"/>
              </a:ext>
            </a:extLst>
          </p:cNvPr>
          <p:cNvSpPr txBox="1"/>
          <p:nvPr/>
        </p:nvSpPr>
        <p:spPr>
          <a:xfrm>
            <a:off x="5163667" y="6340728"/>
            <a:ext cx="18646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/>
              <a:t>ResInsight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D8F2EE-4F95-E285-DF05-B594F7F41F9C}"/>
              </a:ext>
            </a:extLst>
          </p:cNvPr>
          <p:cNvSpPr txBox="1"/>
          <p:nvPr/>
        </p:nvSpPr>
        <p:spPr>
          <a:xfrm>
            <a:off x="2476244" y="6354883"/>
            <a:ext cx="18646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/>
              <a:t>ParaView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91221-BB5F-39D0-BEC9-EFF85C2B4A22}"/>
              </a:ext>
            </a:extLst>
          </p:cNvPr>
          <p:cNvSpPr txBox="1"/>
          <p:nvPr/>
        </p:nvSpPr>
        <p:spPr>
          <a:xfrm>
            <a:off x="3182809" y="5350936"/>
            <a:ext cx="187183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1050" dirty="0"/>
              <a:t>One file per time step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F5E382B-DE1B-BD28-9B96-CDC4CB15D6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0788" y="5554111"/>
            <a:ext cx="1390650" cy="63817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3083601-4833-4D4A-0CD6-8E033DA1F059}"/>
              </a:ext>
            </a:extLst>
          </p:cNvPr>
          <p:cNvSpPr txBox="1"/>
          <p:nvPr/>
        </p:nvSpPr>
        <p:spPr>
          <a:xfrm>
            <a:off x="1638610" y="5150657"/>
            <a:ext cx="18718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1200" dirty="0" err="1"/>
              <a:t>Vtk</a:t>
            </a:r>
            <a:r>
              <a:rPr lang="en-US" sz="1200" dirty="0"/>
              <a:t> file (3D data)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F23D03-11FD-B9B7-B8AF-EECE528699B8}"/>
              </a:ext>
            </a:extLst>
          </p:cNvPr>
          <p:cNvSpPr txBox="1"/>
          <p:nvPr/>
        </p:nvSpPr>
        <p:spPr>
          <a:xfrm>
            <a:off x="4933174" y="5097220"/>
            <a:ext cx="21224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00000"/>
              </a:lnSpc>
            </a:pPr>
            <a:r>
              <a:rPr lang="en-US" sz="1400" dirty="0" err="1"/>
              <a:t>grdecl</a:t>
            </a:r>
            <a:r>
              <a:rPr lang="en-US" sz="1400" dirty="0"/>
              <a:t> (3D data)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B85C6A-C684-B480-284F-20149256184C}"/>
              </a:ext>
            </a:extLst>
          </p:cNvPr>
          <p:cNvSpPr txBox="1"/>
          <p:nvPr/>
        </p:nvSpPr>
        <p:spPr>
          <a:xfrm>
            <a:off x="5171099" y="5387232"/>
            <a:ext cx="18718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1050" dirty="0" err="1"/>
              <a:t>Initial+final</a:t>
            </a:r>
            <a:r>
              <a:rPr lang="en-US" sz="1050" dirty="0"/>
              <a:t> or one file per time step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97134C-8CCB-B53F-39CE-6174BD61A156}"/>
              </a:ext>
            </a:extLst>
          </p:cNvPr>
          <p:cNvSpPr txBox="1"/>
          <p:nvPr/>
        </p:nvSpPr>
        <p:spPr>
          <a:xfrm>
            <a:off x="1273287" y="5363797"/>
            <a:ext cx="227498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1050" dirty="0"/>
              <a:t>Well locations  and static data: Perm, Depth, Volume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AFC619-FEC8-EC5D-F8C2-245D84616444}"/>
              </a:ext>
            </a:extLst>
          </p:cNvPr>
          <p:cNvSpPr/>
          <p:nvPr/>
        </p:nvSpPr>
        <p:spPr>
          <a:xfrm>
            <a:off x="1760564" y="5142628"/>
            <a:ext cx="1736141" cy="10584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5224FDD-6CE3-BD11-EE62-247B7ECFC0E9}"/>
              </a:ext>
            </a:extLst>
          </p:cNvPr>
          <p:cNvSpPr/>
          <p:nvPr/>
        </p:nvSpPr>
        <p:spPr>
          <a:xfrm>
            <a:off x="3644270" y="5154456"/>
            <a:ext cx="1430835" cy="1051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761CD70-BA4D-5A3C-48D7-3045DCE3BA16}"/>
              </a:ext>
            </a:extLst>
          </p:cNvPr>
          <p:cNvSpPr/>
          <p:nvPr/>
        </p:nvSpPr>
        <p:spPr>
          <a:xfrm>
            <a:off x="5518096" y="5154456"/>
            <a:ext cx="1430835" cy="1051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DC1DC9F-4F88-3BD5-82FA-18266EB57961}"/>
              </a:ext>
            </a:extLst>
          </p:cNvPr>
          <p:cNvCxnSpPr>
            <a:stCxn id="38" idx="2"/>
          </p:cNvCxnSpPr>
          <p:nvPr/>
        </p:nvCxnSpPr>
        <p:spPr>
          <a:xfrm flipH="1">
            <a:off x="6233513" y="6205904"/>
            <a:ext cx="1" cy="148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3636493-68CB-2540-D8A6-4B0279198DF6}"/>
              </a:ext>
            </a:extLst>
          </p:cNvPr>
          <p:cNvCxnSpPr/>
          <p:nvPr/>
        </p:nvCxnSpPr>
        <p:spPr>
          <a:xfrm flipH="1">
            <a:off x="3887279" y="6201081"/>
            <a:ext cx="1" cy="148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E6568D3-62EF-53D6-96DF-90361F60BDA0}"/>
              </a:ext>
            </a:extLst>
          </p:cNvPr>
          <p:cNvCxnSpPr/>
          <p:nvPr/>
        </p:nvCxnSpPr>
        <p:spPr>
          <a:xfrm flipH="1">
            <a:off x="3205495" y="6200309"/>
            <a:ext cx="1" cy="148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6D0F9F46-3D17-83C7-5B12-4BE7FF399D58}"/>
              </a:ext>
            </a:extLst>
          </p:cNvPr>
          <p:cNvSpPr/>
          <p:nvPr/>
        </p:nvSpPr>
        <p:spPr>
          <a:xfrm>
            <a:off x="4391112" y="4176993"/>
            <a:ext cx="1871834" cy="4610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3F081B-1DA5-28A1-825C-696BC01C5A75}"/>
              </a:ext>
            </a:extLst>
          </p:cNvPr>
          <p:cNvSpPr/>
          <p:nvPr/>
        </p:nvSpPr>
        <p:spPr>
          <a:xfrm>
            <a:off x="7192489" y="5149633"/>
            <a:ext cx="1430835" cy="1051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C08254BB-F67B-3531-90A2-6E57003DC8AB}"/>
              </a:ext>
            </a:extLst>
          </p:cNvPr>
          <p:cNvCxnSpPr>
            <a:cxnSpLocks/>
            <a:stCxn id="46" idx="2"/>
            <a:endCxn id="36" idx="0"/>
          </p:cNvCxnSpPr>
          <p:nvPr/>
        </p:nvCxnSpPr>
        <p:spPr>
          <a:xfrm rot="5400000">
            <a:off x="4585176" y="4412602"/>
            <a:ext cx="516367" cy="9673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A77F8354-9972-9101-F7E4-15913DAA8E96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 rot="16200000" flipH="1">
            <a:off x="5522088" y="4443029"/>
            <a:ext cx="516367" cy="9064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1D1E015-7675-A198-9E7F-18B6E5190A08}"/>
              </a:ext>
            </a:extLst>
          </p:cNvPr>
          <p:cNvSpPr txBox="1"/>
          <p:nvPr/>
        </p:nvSpPr>
        <p:spPr>
          <a:xfrm>
            <a:off x="3253931" y="5136667"/>
            <a:ext cx="18718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1200" dirty="0" err="1"/>
              <a:t>Vtk</a:t>
            </a:r>
            <a:r>
              <a:rPr lang="en-US" sz="1200" dirty="0"/>
              <a:t> files (3D data)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3F4175E1-4E0B-532A-D01C-BD08D62532AC}"/>
              </a:ext>
            </a:extLst>
          </p:cNvPr>
          <p:cNvCxnSpPr>
            <a:cxnSpLocks/>
            <a:stCxn id="46" idx="2"/>
            <a:endCxn id="31" idx="0"/>
          </p:cNvCxnSpPr>
          <p:nvPr/>
        </p:nvCxnSpPr>
        <p:spPr>
          <a:xfrm rot="5400000">
            <a:off x="3725563" y="3541161"/>
            <a:ext cx="504539" cy="26983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6579413F-7AB4-760C-8BDF-FD0953BDA3DF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 rot="16200000" flipH="1">
            <a:off x="6361696" y="3603422"/>
            <a:ext cx="511544" cy="25808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7B526AB-B525-0B55-4ABA-71CA7DEF9C43}"/>
              </a:ext>
            </a:extLst>
          </p:cNvPr>
          <p:cNvSpPr txBox="1"/>
          <p:nvPr/>
        </p:nvSpPr>
        <p:spPr>
          <a:xfrm>
            <a:off x="6580511" y="5138621"/>
            <a:ext cx="21224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00000"/>
              </a:lnSpc>
            </a:pPr>
            <a:r>
              <a:rPr lang="en-US" sz="1600" dirty="0"/>
              <a:t>Well results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4AE6EAB-1302-6411-F52D-A7C9F5685C51}"/>
              </a:ext>
            </a:extLst>
          </p:cNvPr>
          <p:cNvSpPr txBox="1"/>
          <p:nvPr/>
        </p:nvSpPr>
        <p:spPr>
          <a:xfrm>
            <a:off x="6911682" y="5435774"/>
            <a:ext cx="128171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1050" dirty="0" err="1"/>
              <a:t>pkl</a:t>
            </a:r>
            <a:endParaRPr lang="en-US" sz="1050" dirty="0"/>
          </a:p>
          <a:p>
            <a:pPr lvl="1">
              <a:lnSpc>
                <a:spcPct val="100000"/>
              </a:lnSpc>
            </a:pPr>
            <a:r>
              <a:rPr lang="en-US" sz="1050" dirty="0"/>
              <a:t>xlsx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C1C33EB0-F774-5C7E-9C1A-DACADF19B9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090" y="3444385"/>
            <a:ext cx="1714500" cy="819150"/>
          </a:xfrm>
          <a:prstGeom prst="rect">
            <a:avLst/>
          </a:prstGeom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A9EC1B13-8F5F-437A-51CD-C192764ADA90}"/>
              </a:ext>
            </a:extLst>
          </p:cNvPr>
          <p:cNvSpPr/>
          <p:nvPr/>
        </p:nvSpPr>
        <p:spPr>
          <a:xfrm>
            <a:off x="4708677" y="1392219"/>
            <a:ext cx="1671762" cy="9230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1DFDC66-C226-7759-2873-5C48F9628112}"/>
              </a:ext>
            </a:extLst>
          </p:cNvPr>
          <p:cNvCxnSpPr/>
          <p:nvPr/>
        </p:nvCxnSpPr>
        <p:spPr>
          <a:xfrm>
            <a:off x="969818" y="4341024"/>
            <a:ext cx="0" cy="5493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7CA123D-D41D-AD25-C68A-DCBA1ECAB659}"/>
              </a:ext>
            </a:extLst>
          </p:cNvPr>
          <p:cNvSpPr txBox="1"/>
          <p:nvPr/>
        </p:nvSpPr>
        <p:spPr>
          <a:xfrm>
            <a:off x="3446691" y="3168306"/>
            <a:ext cx="1871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1400" dirty="0"/>
              <a:t>Output folders for each case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F97B504-200A-1C63-6EF0-4EE32F24DE65}"/>
              </a:ext>
            </a:extLst>
          </p:cNvPr>
          <p:cNvGrpSpPr/>
          <p:nvPr/>
        </p:nvGrpSpPr>
        <p:grpSpPr>
          <a:xfrm>
            <a:off x="1872060" y="5823672"/>
            <a:ext cx="1404933" cy="257175"/>
            <a:chOff x="2071040" y="5793171"/>
            <a:chExt cx="1404933" cy="257175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0A78A16-9928-D39F-C0D6-7B6BCA959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47298" y="5816983"/>
              <a:ext cx="828675" cy="2095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A93699E-3C06-A713-A82F-7D9ABFE4C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71040" y="5793171"/>
              <a:ext cx="752475" cy="2571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9020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C5EF5-891F-3E53-B1D3-BAE01C219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CPG Reservoir</a:t>
            </a:r>
            <a:endParaRPr lang="nl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B1DCE-11AD-CF83-B1A9-892A6A746C36}"/>
              </a:ext>
            </a:extLst>
          </p:cNvPr>
          <p:cNvSpPr txBox="1"/>
          <p:nvPr/>
        </p:nvSpPr>
        <p:spPr>
          <a:xfrm>
            <a:off x="472643" y="2320616"/>
            <a:ext cx="107083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/>
              <a:t>Read text files with grid and rock properties: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E4E8F96-225F-8C7D-EE06-E6BAB002F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474" y="2681650"/>
            <a:ext cx="8998527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FFFF00"/>
                </a:highlight>
                <a:latin typeface="Arial Unicode MS"/>
              </a:rPr>
              <a:t>arrays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= 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read_arrays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Arial Unicode MS"/>
              </a:rPr>
              <a:t>self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.gridfile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, 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Arial Unicode MS"/>
              </a:rPr>
              <a:t>self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.propfile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F99AB43-DD87-768C-954F-B8C548F78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474" y="3464448"/>
            <a:ext cx="7804727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Arial Unicode MS"/>
              </a:rPr>
              <a:t>self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.reservoir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= 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CPG_Reservoir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Arial Unicode MS"/>
              </a:rPr>
              <a:t>self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.timer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FFFF00"/>
                </a:highlight>
                <a:latin typeface="Arial Unicode MS"/>
              </a:rPr>
              <a:t>arrays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</a:b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Arial Unicode MS"/>
              </a:rPr>
              <a:t>self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.reservoir.discretize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()</a:t>
            </a:r>
            <a:endParaRPr kumimoji="0" lang="nl-NL" altLang="nl-N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C5ADA2-2EE7-3B2A-0FC4-EC5BB62D381D}"/>
              </a:ext>
            </a:extLst>
          </p:cNvPr>
          <p:cNvSpPr txBox="1"/>
          <p:nvPr/>
        </p:nvSpPr>
        <p:spPr>
          <a:xfrm>
            <a:off x="472645" y="3064338"/>
            <a:ext cx="114884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/>
              <a:t>Initialize the mesh (filter inactive cells, allocate arrays, compute connectivity, transmissibility, </a:t>
            </a:r>
            <a:r>
              <a:rPr lang="en-US" sz="2000" dirty="0" err="1"/>
              <a:t>etc</a:t>
            </a:r>
            <a:r>
              <a:rPr lang="en-US" sz="2000" dirty="0"/>
              <a:t>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5A2C7D-969B-CB76-EE05-8A2A6C280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54" y="4572075"/>
            <a:ext cx="3242538" cy="1920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20736E-0072-A405-6E6D-0C17F9F7CBF6}"/>
              </a:ext>
            </a:extLst>
          </p:cNvPr>
          <p:cNvSpPr txBox="1"/>
          <p:nvPr/>
        </p:nvSpPr>
        <p:spPr>
          <a:xfrm>
            <a:off x="1198438" y="4188589"/>
            <a:ext cx="2758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Console output:</a:t>
            </a:r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47E658-D36E-DB19-84AB-64429EF24F4A}"/>
              </a:ext>
            </a:extLst>
          </p:cNvPr>
          <p:cNvSpPr txBox="1"/>
          <p:nvPr/>
        </p:nvSpPr>
        <p:spPr>
          <a:xfrm>
            <a:off x="5106507" y="4373255"/>
            <a:ext cx="6074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/>
              <a:t>One can implement own file reader or fill it in Python code depending on purpose.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792FA1-7A6C-10BB-E08C-6567890BF8C9}"/>
              </a:ext>
            </a:extLst>
          </p:cNvPr>
          <p:cNvSpPr txBox="1"/>
          <p:nvPr/>
        </p:nvSpPr>
        <p:spPr>
          <a:xfrm>
            <a:off x="472643" y="1534920"/>
            <a:ext cx="107083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/>
              <a:t>The main input of the reservoir class is a dictionary of </a:t>
            </a:r>
            <a:r>
              <a:rPr lang="en-US" sz="2000" dirty="0" err="1"/>
              <a:t>numpy</a:t>
            </a:r>
            <a:r>
              <a:rPr lang="en-US" sz="2000" dirty="0"/>
              <a:t> arrays containing grid data and rock properties.</a:t>
            </a:r>
          </a:p>
        </p:txBody>
      </p:sp>
    </p:spTree>
    <p:extLst>
      <p:ext uri="{BB962C8B-B14F-4D97-AF65-F5344CB8AC3E}">
        <p14:creationId xmlns:p14="http://schemas.microsoft.com/office/powerpoint/2010/main" val="3264304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BA1C3-C0CE-6BF4-018F-4D4F524A3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Over- and </a:t>
            </a:r>
            <a:r>
              <a:rPr lang="en-GB" dirty="0" err="1"/>
              <a:t>underburden</a:t>
            </a:r>
            <a:r>
              <a:rPr lang="en-GB" dirty="0"/>
              <a:t> layers generation</a:t>
            </a:r>
            <a:endParaRPr lang="nl-N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D0F28B-03A0-5DBB-A6C3-E179405A0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951" y="2633663"/>
            <a:ext cx="5547673" cy="405346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13D0E4D-592B-86C1-BA8E-7480EA7B3DCB}"/>
              </a:ext>
            </a:extLst>
          </p:cNvPr>
          <p:cNvCxnSpPr>
            <a:cxnSpLocks/>
          </p:cNvCxnSpPr>
          <p:nvPr/>
        </p:nvCxnSpPr>
        <p:spPr>
          <a:xfrm>
            <a:off x="7570932" y="3089708"/>
            <a:ext cx="0" cy="9926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90BF2F0D-60D4-5E33-193E-E7DC90C37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3191193"/>
            <a:ext cx="5071599" cy="2503572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5D16B46-CA31-02A3-A57F-03A6966787F6}"/>
              </a:ext>
            </a:extLst>
          </p:cNvPr>
          <p:cNvCxnSpPr>
            <a:cxnSpLocks/>
          </p:cNvCxnSpPr>
          <p:nvPr/>
        </p:nvCxnSpPr>
        <p:spPr>
          <a:xfrm flipH="1">
            <a:off x="7570932" y="4702144"/>
            <a:ext cx="29441" cy="11260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5D8AC7C5-7CF4-6435-AF08-ECF9D682B1BC}"/>
              </a:ext>
            </a:extLst>
          </p:cNvPr>
          <p:cNvCxnSpPr>
            <a:cxnSpLocks/>
          </p:cNvCxnSpPr>
          <p:nvPr/>
        </p:nvCxnSpPr>
        <p:spPr>
          <a:xfrm>
            <a:off x="3860800" y="2332241"/>
            <a:ext cx="3620655" cy="1253777"/>
          </a:xfrm>
          <a:prstGeom prst="bentConnector3">
            <a:avLst>
              <a:gd name="adj1" fmla="val -255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430AE27-E4E6-2BBA-C8A0-6AE78A02B319}"/>
              </a:ext>
            </a:extLst>
          </p:cNvPr>
          <p:cNvCxnSpPr>
            <a:cxnSpLocks/>
          </p:cNvCxnSpPr>
          <p:nvPr/>
        </p:nvCxnSpPr>
        <p:spPr>
          <a:xfrm>
            <a:off x="8388348" y="4174836"/>
            <a:ext cx="0" cy="876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0F62C95A-39F6-AF9D-DFB8-8BCD655B12E3}"/>
              </a:ext>
            </a:extLst>
          </p:cNvPr>
          <p:cNvCxnSpPr>
            <a:cxnSpLocks/>
          </p:cNvCxnSpPr>
          <p:nvPr/>
        </p:nvCxnSpPr>
        <p:spPr>
          <a:xfrm rot="16200000" flipH="1">
            <a:off x="6312159" y="2116082"/>
            <a:ext cx="1860031" cy="2292348"/>
          </a:xfrm>
          <a:prstGeom prst="bentConnector2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8C4D9734-227F-6297-218D-AF1484D6D997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79634" y="2332239"/>
            <a:ext cx="4566330" cy="2328156"/>
          </a:xfrm>
          <a:prstGeom prst="bentConnector3">
            <a:avLst>
              <a:gd name="adj1" fmla="val -163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7C246087-9C72-7E64-A502-A81EDE1AA240}"/>
              </a:ext>
            </a:extLst>
          </p:cNvPr>
          <p:cNvSpPr/>
          <p:nvPr/>
        </p:nvSpPr>
        <p:spPr>
          <a:xfrm>
            <a:off x="4761562" y="4581468"/>
            <a:ext cx="518072" cy="1578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E5A96D8F-A74A-7D13-B7C0-FE154600426F}"/>
              </a:ext>
            </a:extLst>
          </p:cNvPr>
          <p:cNvCxnSpPr>
            <a:cxnSpLocks/>
          </p:cNvCxnSpPr>
          <p:nvPr/>
        </p:nvCxnSpPr>
        <p:spPr>
          <a:xfrm>
            <a:off x="3860800" y="2332238"/>
            <a:ext cx="3620655" cy="3012671"/>
          </a:xfrm>
          <a:prstGeom prst="bentConnector3">
            <a:avLst>
              <a:gd name="adj1" fmla="val -255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4232CA9-FB4C-BAE9-BC62-FADEA1727445}"/>
              </a:ext>
            </a:extLst>
          </p:cNvPr>
          <p:cNvCxnSpPr>
            <a:cxnSpLocks/>
          </p:cNvCxnSpPr>
          <p:nvPr/>
        </p:nvCxnSpPr>
        <p:spPr>
          <a:xfrm flipV="1">
            <a:off x="4986882" y="2987914"/>
            <a:ext cx="1324069" cy="1918585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513CBFC-573D-64DF-BF5A-EF5BE8954FE0}"/>
              </a:ext>
            </a:extLst>
          </p:cNvPr>
          <p:cNvCxnSpPr>
            <a:cxnSpLocks/>
          </p:cNvCxnSpPr>
          <p:nvPr/>
        </p:nvCxnSpPr>
        <p:spPr>
          <a:xfrm>
            <a:off x="5141546" y="5344909"/>
            <a:ext cx="1169405" cy="174438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C25F611-FC1F-43E4-ED51-30ADD7410882}"/>
              </a:ext>
            </a:extLst>
          </p:cNvPr>
          <p:cNvCxnSpPr>
            <a:cxnSpLocks/>
          </p:cNvCxnSpPr>
          <p:nvPr/>
        </p:nvCxnSpPr>
        <p:spPr>
          <a:xfrm flipV="1">
            <a:off x="5020598" y="4497975"/>
            <a:ext cx="1290353" cy="658076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3599298-7B78-7D50-270C-2E54D9C95C71}"/>
              </a:ext>
            </a:extLst>
          </p:cNvPr>
          <p:cNvCxnSpPr>
            <a:cxnSpLocks/>
          </p:cNvCxnSpPr>
          <p:nvPr/>
        </p:nvCxnSpPr>
        <p:spPr>
          <a:xfrm flipV="1">
            <a:off x="5090963" y="3984026"/>
            <a:ext cx="1253704" cy="1040928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B0EB297-F403-65CF-5091-4C85153C8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976" y="2042998"/>
            <a:ext cx="10267950" cy="219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470E5-B78C-06B1-63B7-B9EFBA784A76}"/>
              </a:ext>
            </a:extLst>
          </p:cNvPr>
          <p:cNvSpPr txBox="1"/>
          <p:nvPr/>
        </p:nvSpPr>
        <p:spPr>
          <a:xfrm>
            <a:off x="135802" y="1336746"/>
            <a:ext cx="116384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/>
              <a:t>If that layers were not generated in the geological modeling software, or one uses mesh generation option in open-DARTS, it is possible to do that using the next function: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CD2113-8788-08F0-C70B-C8B3E38406BD}"/>
              </a:ext>
            </a:extLst>
          </p:cNvPr>
          <p:cNvSpPr txBox="1"/>
          <p:nvPr/>
        </p:nvSpPr>
        <p:spPr>
          <a:xfrm>
            <a:off x="10125456" y="4624844"/>
            <a:ext cx="1858761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/>
              <a:t>Reservoir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207EE6-C60D-9D5C-CA94-D85922CFBDC1}"/>
              </a:ext>
            </a:extLst>
          </p:cNvPr>
          <p:cNvSpPr txBox="1"/>
          <p:nvPr/>
        </p:nvSpPr>
        <p:spPr>
          <a:xfrm>
            <a:off x="10138716" y="3711516"/>
            <a:ext cx="20532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/>
              <a:t>Overburden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4B6888-E71F-CCA0-69DD-61121F9A88E7}"/>
              </a:ext>
            </a:extLst>
          </p:cNvPr>
          <p:cNvSpPr txBox="1"/>
          <p:nvPr/>
        </p:nvSpPr>
        <p:spPr>
          <a:xfrm>
            <a:off x="10138716" y="5628090"/>
            <a:ext cx="2255478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 err="1"/>
              <a:t>Underburden</a:t>
            </a:r>
            <a:r>
              <a:rPr lang="en-US" sz="20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93A0F4-8E46-DC74-88D3-BFDA279A6BAA}"/>
              </a:ext>
            </a:extLst>
          </p:cNvPr>
          <p:cNvSpPr txBox="1"/>
          <p:nvPr/>
        </p:nvSpPr>
        <p:spPr>
          <a:xfrm>
            <a:off x="-118425" y="609277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1400" dirty="0"/>
              <a:t>Note: this feature doesn’t work well if the top or the bottom layers are fully or partly inactive (due to ACTNUM=0, PORO=0, thickness=0) </a:t>
            </a:r>
          </a:p>
        </p:txBody>
      </p:sp>
    </p:spTree>
    <p:extLst>
      <p:ext uri="{BB962C8B-B14F-4D97-AF65-F5344CB8AC3E}">
        <p14:creationId xmlns:p14="http://schemas.microsoft.com/office/powerpoint/2010/main" val="1118895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74FBA-EA86-6032-1A72-22C41F837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Over- and </a:t>
            </a:r>
            <a:r>
              <a:rPr lang="en-GB" dirty="0" err="1"/>
              <a:t>underburden</a:t>
            </a:r>
            <a:r>
              <a:rPr lang="en-GB" dirty="0"/>
              <a:t> rock properties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B264A-A442-CF41-961C-7554D900A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995" y="2936958"/>
            <a:ext cx="7981950" cy="2524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C06EB9-D014-8E03-8C3A-12121EBE738F}"/>
              </a:ext>
            </a:extLst>
          </p:cNvPr>
          <p:cNvSpPr txBox="1"/>
          <p:nvPr/>
        </p:nvSpPr>
        <p:spPr>
          <a:xfrm>
            <a:off x="912137" y="237746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Defined in case_base.py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77544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20664-8CA3-93FB-5DC7-2AF032DFB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DA85F-E526-AD8E-8599-D6E9F6297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Fault transmissibility multipliers</a:t>
            </a:r>
            <a:endParaRPr lang="nl-N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16037F-9EE6-4717-025D-9044D21906CC}"/>
              </a:ext>
            </a:extLst>
          </p:cNvPr>
          <p:cNvSpPr txBox="1"/>
          <p:nvPr/>
        </p:nvSpPr>
        <p:spPr>
          <a:xfrm>
            <a:off x="327171" y="2080873"/>
            <a:ext cx="1102662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b="1" dirty="0" err="1"/>
              <a:t>CPG_Reservoir</a:t>
            </a:r>
            <a:r>
              <a:rPr lang="en-US" sz="2000" b="1" dirty="0"/>
              <a:t> </a:t>
            </a:r>
            <a:r>
              <a:rPr lang="en-US" sz="2000" dirty="0"/>
              <a:t>class</a:t>
            </a:r>
            <a:r>
              <a:rPr lang="en-US" sz="2000" b="1" dirty="0"/>
              <a:t> </a:t>
            </a:r>
            <a:r>
              <a:rPr lang="en-US" sz="2000" dirty="0"/>
              <a:t>has an option to pass a filename with fault location and multipliers in format: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				I1   J1   K1   I2   J2   K2   M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where </a:t>
            </a:r>
          </a:p>
          <a:p>
            <a:pPr lvl="2"/>
            <a:r>
              <a:rPr lang="en-US" sz="2000" dirty="0"/>
              <a:t>I1,  J1,  K1  - indices of the first cell, integers</a:t>
            </a:r>
          </a:p>
          <a:p>
            <a:pPr lvl="2"/>
            <a:r>
              <a:rPr lang="en-US" sz="2000" dirty="0"/>
              <a:t>I2,  J2,  K2  - indices of the second cell, integers</a:t>
            </a:r>
          </a:p>
          <a:p>
            <a:pPr lvl="2"/>
            <a:r>
              <a:rPr lang="en-US" sz="2000" dirty="0"/>
              <a:t>M - multiplier, float value</a:t>
            </a:r>
          </a:p>
          <a:p>
            <a:pPr lvl="1">
              <a:lnSpc>
                <a:spcPct val="100000"/>
              </a:lnSpc>
            </a:pP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2000" dirty="0"/>
              <a:t>For example, setting M=0.0 will make the fault impermeable.</a:t>
            </a:r>
          </a:p>
          <a:p>
            <a:pPr lvl="1">
              <a:lnSpc>
                <a:spcPct val="10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2531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183D7-5F6A-93F9-63D1-345A60B59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4EF6-4286-E6B6-4135-4B593BDC2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Boundary conditions</a:t>
            </a:r>
            <a:endParaRPr lang="nl-NL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59606E9-B527-0093-062E-6E92276D8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680820"/>
            <a:ext cx="8247771" cy="892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nl-NL" sz="2000" dirty="0"/>
              <a:t>Defined in case_base.py: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nl-NL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Arial Unicode M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	</a:t>
            </a:r>
            <a:r>
              <a:rPr kumimoji="0" lang="en-US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geom.bound_volume</a:t>
            </a:r>
            <a:r>
              <a:rPr kumimoji="0" lang="en-US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 = 1e18    # lateral boundary volume, m^3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C2764E-69DC-2887-217D-81854638BB37}"/>
              </a:ext>
            </a:extLst>
          </p:cNvPr>
          <p:cNvSpPr txBox="1"/>
          <p:nvPr/>
        </p:nvSpPr>
        <p:spPr>
          <a:xfrm>
            <a:off x="327170" y="1770981"/>
            <a:ext cx="1102662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/>
              <a:t>Boundary conditions: 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top and bottom – no flow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lateral boundaries – large volume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2000" dirty="0"/>
              <a:t>In case ACTNUM array is defined, the volume will be set at the closest active cell: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4DF9FD5-5607-1741-831A-88D2EA647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487" y="3577009"/>
            <a:ext cx="3869026" cy="210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516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D0A15B2-3E00-8944-AEA8-941A689FD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563" y="2114684"/>
            <a:ext cx="5619750" cy="25050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3E3464-3072-B0E7-FDC9-023E4E182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Initial conditions (geothermal physics)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338E8-7F51-4F72-2FD4-7C554316F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0781" y="1579364"/>
            <a:ext cx="6209145" cy="50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Defined in model_geothermal.py: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26DF49-DBCA-F256-61A3-BE81354AB449}"/>
              </a:ext>
            </a:extLst>
          </p:cNvPr>
          <p:cNvSpPr txBox="1"/>
          <p:nvPr/>
        </p:nvSpPr>
        <p:spPr>
          <a:xfrm>
            <a:off x="8636000" y="2248194"/>
            <a:ext cx="20369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/>
              <a:t>Uniform </a:t>
            </a:r>
            <a:r>
              <a:rPr lang="en-US" sz="2000" dirty="0" err="1"/>
              <a:t>p,T</a:t>
            </a:r>
            <a:endParaRPr lang="en-US" sz="2000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4A9BA5BC-51E8-301F-EA2B-09ECE2344B6C}"/>
              </a:ext>
            </a:extLst>
          </p:cNvPr>
          <p:cNvCxnSpPr>
            <a:cxnSpLocks/>
            <a:stCxn id="9" idx="1"/>
            <a:endCxn id="11" idx="3"/>
          </p:cNvCxnSpPr>
          <p:nvPr/>
        </p:nvCxnSpPr>
        <p:spPr>
          <a:xfrm rot="10800000">
            <a:off x="7499926" y="2389917"/>
            <a:ext cx="1136074" cy="583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535A41-C97A-F1D7-B4AD-128F36694715}"/>
              </a:ext>
            </a:extLst>
          </p:cNvPr>
          <p:cNvSpPr/>
          <p:nvPr/>
        </p:nvSpPr>
        <p:spPr>
          <a:xfrm>
            <a:off x="1321987" y="1967945"/>
            <a:ext cx="6177939" cy="843941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2CACF7-D74A-844B-6C6C-B487AFC5DEA6}"/>
              </a:ext>
            </a:extLst>
          </p:cNvPr>
          <p:cNvSpPr/>
          <p:nvPr/>
        </p:nvSpPr>
        <p:spPr>
          <a:xfrm>
            <a:off x="1290781" y="2811886"/>
            <a:ext cx="6209145" cy="1931431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63D477-3533-DC3C-5A7C-ED05CB190060}"/>
              </a:ext>
            </a:extLst>
          </p:cNvPr>
          <p:cNvSpPr txBox="1"/>
          <p:nvPr/>
        </p:nvSpPr>
        <p:spPr>
          <a:xfrm>
            <a:off x="8635999" y="3231503"/>
            <a:ext cx="29186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2000" dirty="0"/>
              <a:t>Non-uniform </a:t>
            </a:r>
            <a:r>
              <a:rPr lang="en-US" sz="2000" dirty="0" err="1"/>
              <a:t>p,T</a:t>
            </a: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2000" dirty="0"/>
              <a:t>(set by gradient)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69C9A9F-8BAE-8987-4EB1-E4F8F1E2D7C4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>
            <a:off x="7499933" y="3560554"/>
            <a:ext cx="1136067" cy="248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F9D9F51-5A0D-ECBB-5873-273A4628E3C0}"/>
              </a:ext>
            </a:extLst>
          </p:cNvPr>
          <p:cNvSpPr txBox="1"/>
          <p:nvPr/>
        </p:nvSpPr>
        <p:spPr>
          <a:xfrm>
            <a:off x="7773600" y="4522516"/>
            <a:ext cx="29048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Water saturation</a:t>
            </a:r>
          </a:p>
        </p:txBody>
      </p:sp>
    </p:spTree>
    <p:extLst>
      <p:ext uri="{BB962C8B-B14F-4D97-AF65-F5344CB8AC3E}">
        <p14:creationId xmlns:p14="http://schemas.microsoft.com/office/powerpoint/2010/main" val="845614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E4086-B7D4-8226-2633-BBA53DA79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D45CA-CB82-6E0D-D19E-426B6FEA5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Initial conditions (</a:t>
            </a:r>
            <a:r>
              <a:rPr lang="en-GB" dirty="0" err="1"/>
              <a:t>deadoil</a:t>
            </a:r>
            <a:r>
              <a:rPr lang="en-GB" dirty="0"/>
              <a:t> physics)</a:t>
            </a:r>
            <a:endParaRPr lang="nl-NL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207208F-4DE7-23B5-1D16-14A05D8444AA}"/>
              </a:ext>
            </a:extLst>
          </p:cNvPr>
          <p:cNvGrpSpPr/>
          <p:nvPr/>
        </p:nvGrpSpPr>
        <p:grpSpPr>
          <a:xfrm>
            <a:off x="6989064" y="1721908"/>
            <a:ext cx="4364736" cy="2183838"/>
            <a:chOff x="6859456" y="4300046"/>
            <a:chExt cx="4364736" cy="2183838"/>
          </a:xfrm>
        </p:grpSpPr>
        <p:pic>
          <p:nvPicPr>
            <p:cNvPr id="5" name="Picture 4" descr="A red and blue square&#10;&#10;Description automatically generated">
              <a:extLst>
                <a:ext uri="{FF2B5EF4-FFF2-40B4-BE49-F238E27FC236}">
                  <a16:creationId xmlns:a16="http://schemas.microsoft.com/office/drawing/2014/main" id="{3D19B5DC-6063-4E80-2141-7E0ABAC9E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9456" y="4300046"/>
              <a:ext cx="4364736" cy="218383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6FEE801-6604-B90C-DC16-9070D8CFBB49}"/>
                </a:ext>
              </a:extLst>
            </p:cNvPr>
            <p:cNvSpPr txBox="1"/>
            <p:nvPr/>
          </p:nvSpPr>
          <p:spPr>
            <a:xfrm>
              <a:off x="7773600" y="4522516"/>
              <a:ext cx="290483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>
                <a:lnSpc>
                  <a:spcPct val="100000"/>
                </a:lnSpc>
              </a:pPr>
              <a:r>
                <a:rPr lang="en-US" sz="1600" dirty="0">
                  <a:solidFill>
                    <a:schemeClr val="bg1"/>
                  </a:solidFill>
                </a:rPr>
                <a:t>Water saturation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2F4D965-FF27-1F2B-AC47-3B99D17D0359}"/>
              </a:ext>
            </a:extLst>
          </p:cNvPr>
          <p:cNvGrpSpPr/>
          <p:nvPr/>
        </p:nvGrpSpPr>
        <p:grpSpPr>
          <a:xfrm>
            <a:off x="6989064" y="4209510"/>
            <a:ext cx="4364738" cy="2183839"/>
            <a:chOff x="1776230" y="4300045"/>
            <a:chExt cx="4364738" cy="2183839"/>
          </a:xfrm>
        </p:grpSpPr>
        <p:pic>
          <p:nvPicPr>
            <p:cNvPr id="22" name="Picture 21" descr="A blue square with red and orange stripes&#10;&#10;Description automatically generated">
              <a:extLst>
                <a:ext uri="{FF2B5EF4-FFF2-40B4-BE49-F238E27FC236}">
                  <a16:creationId xmlns:a16="http://schemas.microsoft.com/office/drawing/2014/main" id="{C7BC8B3A-6344-B02F-126B-AAC4E978E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6230" y="4300045"/>
              <a:ext cx="4364738" cy="2183839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EE7BC65-0D79-1994-7CFC-F41C0214CB65}"/>
                </a:ext>
              </a:extLst>
            </p:cNvPr>
            <p:cNvSpPr txBox="1"/>
            <p:nvPr/>
          </p:nvSpPr>
          <p:spPr>
            <a:xfrm>
              <a:off x="2894755" y="4535179"/>
              <a:ext cx="290483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>
                <a:lnSpc>
                  <a:spcPct val="100000"/>
                </a:lnSpc>
              </a:pPr>
              <a:r>
                <a:rPr lang="en-US" sz="1600" dirty="0">
                  <a:solidFill>
                    <a:schemeClr val="bg1"/>
                  </a:solidFill>
                </a:rPr>
                <a:t>Pressure</a:t>
              </a:r>
            </a:p>
          </p:txBody>
        </p:sp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C85E1B1-5B92-9C4B-823E-58487DC0A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26" y="199445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Defined in model_deadoil.py: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17E7824-9432-B7B8-F5E0-C1BE0813A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84" y="2441684"/>
            <a:ext cx="6071778" cy="3261558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DA99B0F-69ED-B0A0-9EEA-71ECEB7AF2D9}"/>
              </a:ext>
            </a:extLst>
          </p:cNvPr>
          <p:cNvSpPr/>
          <p:nvPr/>
        </p:nvSpPr>
        <p:spPr>
          <a:xfrm>
            <a:off x="793232" y="2617882"/>
            <a:ext cx="4801810" cy="24301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A5EFF67-B80E-65BA-D24D-4148BE08947A}"/>
              </a:ext>
            </a:extLst>
          </p:cNvPr>
          <p:cNvSpPr/>
          <p:nvPr/>
        </p:nvSpPr>
        <p:spPr>
          <a:xfrm>
            <a:off x="793232" y="5067289"/>
            <a:ext cx="4801810" cy="16561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743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E3464-3072-B0E7-FDC9-023E4E182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Well perforations</a:t>
            </a:r>
            <a:endParaRPr lang="nl-NL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4FD7850-FCD1-09A9-FFC4-586B38500821}"/>
              </a:ext>
            </a:extLst>
          </p:cNvPr>
          <p:cNvSpPr txBox="1">
            <a:spLocks/>
          </p:cNvSpPr>
          <p:nvPr/>
        </p:nvSpPr>
        <p:spPr>
          <a:xfrm>
            <a:off x="765773" y="5123968"/>
            <a:ext cx="10515600" cy="50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/>
              <a:t>Screen output (if verbose)</a:t>
            </a:r>
            <a:endParaRPr lang="nl-NL" sz="2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698E14D-8990-3C03-D218-2DA6EB2B8591}"/>
              </a:ext>
            </a:extLst>
          </p:cNvPr>
          <p:cNvGrpSpPr/>
          <p:nvPr/>
        </p:nvGrpSpPr>
        <p:grpSpPr>
          <a:xfrm>
            <a:off x="838200" y="5524077"/>
            <a:ext cx="10953750" cy="1325809"/>
            <a:chOff x="838200" y="5008032"/>
            <a:chExt cx="10953750" cy="132580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1A19512-D16B-4D40-91E8-CA8F6FF79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5028916"/>
              <a:ext cx="10953750" cy="82867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6C8A08C-3B6D-3C3C-3B37-91DBFF93881D}"/>
                </a:ext>
              </a:extLst>
            </p:cNvPr>
            <p:cNvSpPr txBox="1"/>
            <p:nvPr/>
          </p:nvSpPr>
          <p:spPr>
            <a:xfrm>
              <a:off x="8964397" y="5933731"/>
              <a:ext cx="203697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>
                <a:lnSpc>
                  <a:spcPct val="100000"/>
                </a:lnSpc>
              </a:pPr>
              <a:r>
                <a:rPr lang="en-US" sz="2000" dirty="0"/>
                <a:t>Well index</a:t>
              </a:r>
            </a:p>
          </p:txBody>
        </p: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41695DDC-3885-2D40-BC26-C4E91FE1ADAD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rot="5400000" flipH="1" flipV="1">
              <a:off x="9899992" y="5747615"/>
              <a:ext cx="269010" cy="10322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8DF7A1B-2E8B-17DD-9915-8D388C28CCA2}"/>
                </a:ext>
              </a:extLst>
            </p:cNvPr>
            <p:cNvSpPr/>
            <p:nvPr/>
          </p:nvSpPr>
          <p:spPr>
            <a:xfrm>
              <a:off x="9547476" y="5008032"/>
              <a:ext cx="926560" cy="656688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7920657-AF01-6BD8-6062-22B010DA2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572"/>
            <a:ext cx="10515600" cy="50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Adding wells and perforation is performed in </a:t>
            </a:r>
            <a:r>
              <a:rPr lang="en-GB" dirty="0" err="1"/>
              <a:t>set_well</a:t>
            </a:r>
            <a:r>
              <a:rPr lang="en-GB" dirty="0"/>
              <a:t>() function (model_cpg.py)</a:t>
            </a:r>
            <a:endParaRPr lang="nl-NL" dirty="0"/>
          </a:p>
        </p:txBody>
      </p:sp>
      <p:sp>
        <p:nvSpPr>
          <p:cNvPr id="4" name="Content Placeholder 11">
            <a:extLst>
              <a:ext uri="{FF2B5EF4-FFF2-40B4-BE49-F238E27FC236}">
                <a16:creationId xmlns:a16="http://schemas.microsoft.com/office/drawing/2014/main" id="{F123DDAA-C5BF-3946-5C74-A62EE2CCD192}"/>
              </a:ext>
            </a:extLst>
          </p:cNvPr>
          <p:cNvSpPr txBox="1">
            <a:spLocks/>
          </p:cNvSpPr>
          <p:nvPr/>
        </p:nvSpPr>
        <p:spPr>
          <a:xfrm>
            <a:off x="838200" y="3371492"/>
            <a:ext cx="10515600" cy="50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200" dirty="0"/>
              <a:t>or with higher level “</a:t>
            </a:r>
            <a:r>
              <a:rPr lang="en-GB" sz="2200" dirty="0" err="1"/>
              <a:t>idata</a:t>
            </a:r>
            <a:r>
              <a:rPr lang="en-GB" sz="2200" dirty="0"/>
              <a:t>” interface: </a:t>
            </a:r>
            <a:endParaRPr lang="nl-NL" sz="2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C5AAB7-2BD7-5DFD-8DBC-CEB4C1DDD9D2}"/>
              </a:ext>
            </a:extLst>
          </p:cNvPr>
          <p:cNvSpPr txBox="1"/>
          <p:nvPr/>
        </p:nvSpPr>
        <p:spPr>
          <a:xfrm>
            <a:off x="1146738" y="3783457"/>
            <a:ext cx="7349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well_data.add_well</a:t>
            </a:r>
            <a:r>
              <a:rPr lang="en-US" dirty="0"/>
              <a:t>(name='PRD', </a:t>
            </a:r>
            <a:r>
              <a:rPr lang="en-US" dirty="0" err="1"/>
              <a:t>loc_type</a:t>
            </a:r>
            <a:r>
              <a:rPr lang="en-US" dirty="0"/>
              <a:t>='</a:t>
            </a:r>
            <a:r>
              <a:rPr lang="en-US" dirty="0" err="1"/>
              <a:t>ijk</a:t>
            </a:r>
            <a:r>
              <a:rPr lang="en-US" dirty="0"/>
              <a:t>', </a:t>
            </a:r>
            <a:r>
              <a:rPr lang="en-US" dirty="0" err="1"/>
              <a:t>loc_ijk</a:t>
            </a:r>
            <a:r>
              <a:rPr lang="en-US" dirty="0"/>
              <a:t>=(1, 1, -1))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175366-1AB8-3892-AA44-9CAE6284D68E}"/>
              </a:ext>
            </a:extLst>
          </p:cNvPr>
          <p:cNvSpPr txBox="1"/>
          <p:nvPr/>
        </p:nvSpPr>
        <p:spPr>
          <a:xfrm>
            <a:off x="1146738" y="4137232"/>
            <a:ext cx="84477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or </a:t>
            </a:r>
          </a:p>
          <a:p>
            <a:r>
              <a:rPr lang="nl-NL" dirty="0" err="1"/>
              <a:t>well_data.add_well</a:t>
            </a:r>
            <a:r>
              <a:rPr lang="nl-NL" dirty="0"/>
              <a:t>(name='PRD', </a:t>
            </a:r>
            <a:r>
              <a:rPr lang="nl-NL" dirty="0" err="1"/>
              <a:t>loc_type</a:t>
            </a:r>
            <a:r>
              <a:rPr lang="nl-NL" dirty="0"/>
              <a:t>='</a:t>
            </a:r>
            <a:r>
              <a:rPr lang="nl-NL" dirty="0" err="1"/>
              <a:t>xyz</a:t>
            </a:r>
            <a:r>
              <a:rPr lang="nl-NL" dirty="0"/>
              <a:t>', </a:t>
            </a:r>
            <a:r>
              <a:rPr lang="nl-NL" dirty="0" err="1"/>
              <a:t>loc_xyz</a:t>
            </a:r>
            <a:r>
              <a:rPr lang="nl-NL" dirty="0"/>
              <a:t>=(250.0, 500.0, 890.0))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8A869E-6B15-48E7-2EB2-40E67E7E667C}"/>
              </a:ext>
            </a:extLst>
          </p:cNvPr>
          <p:cNvSpPr txBox="1"/>
          <p:nvPr/>
        </p:nvSpPr>
        <p:spPr>
          <a:xfrm>
            <a:off x="1146738" y="2392121"/>
            <a:ext cx="85276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 err="1"/>
              <a:t>self.reservoir.add_perforation</a:t>
            </a:r>
            <a:r>
              <a:rPr lang="nl-NL" dirty="0"/>
              <a:t>(</a:t>
            </a:r>
            <a:r>
              <a:rPr lang="nl-NL" dirty="0" err="1"/>
              <a:t>wname</a:t>
            </a:r>
            <a:r>
              <a:rPr lang="nl-NL" dirty="0"/>
              <a:t>,</a:t>
            </a:r>
          </a:p>
          <a:p>
            <a:r>
              <a:rPr lang="nl-NL" dirty="0"/>
              <a:t>                                                   </a:t>
            </a:r>
            <a:r>
              <a:rPr lang="nl-NL" dirty="0" err="1"/>
              <a:t>cell_index</a:t>
            </a:r>
            <a:r>
              <a:rPr lang="nl-NL" dirty="0"/>
              <a:t>=(I,J,K),     # </a:t>
            </a:r>
            <a:r>
              <a:rPr lang="nl-NL" dirty="0" err="1"/>
              <a:t>location</a:t>
            </a:r>
            <a:r>
              <a:rPr lang="nl-NL" dirty="0"/>
              <a:t> indices</a:t>
            </a:r>
          </a:p>
          <a:p>
            <a:r>
              <a:rPr lang="nl-NL" dirty="0"/>
              <a:t>                                                   </a:t>
            </a:r>
            <a:r>
              <a:rPr lang="nl-NL" dirty="0" err="1"/>
              <a:t>well_index</a:t>
            </a:r>
            <a:r>
              <a:rPr lang="nl-NL" dirty="0"/>
              <a:t>=</a:t>
            </a:r>
            <a:r>
              <a:rPr lang="nl-NL" dirty="0" err="1"/>
              <a:t>perf.well_index</a:t>
            </a:r>
            <a:r>
              <a:rPr lang="nl-NL" dirty="0"/>
              <a:t>,  </a:t>
            </a:r>
            <a:r>
              <a:rPr lang="nl-NL" dirty="0" err="1"/>
              <a:t>verbose</a:t>
            </a:r>
            <a:r>
              <a:rPr lang="nl-NL" dirty="0"/>
              <a:t>=True)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3D2B9D-7645-E057-439C-B0802261C344}"/>
              </a:ext>
            </a:extLst>
          </p:cNvPr>
          <p:cNvSpPr txBox="1"/>
          <p:nvPr/>
        </p:nvSpPr>
        <p:spPr>
          <a:xfrm>
            <a:off x="1103699" y="1977857"/>
            <a:ext cx="6160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dirty="0" err="1"/>
              <a:t>self.reservoir.add_well</a:t>
            </a:r>
            <a:r>
              <a:rPr lang="en-US" dirty="0"/>
              <a:t>(</a:t>
            </a:r>
            <a:r>
              <a:rPr lang="en-US" dirty="0" err="1"/>
              <a:t>wname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AE4612-8BAC-1AEF-C6A3-E0C53263EBC3}"/>
              </a:ext>
            </a:extLst>
          </p:cNvPr>
          <p:cNvSpPr txBox="1"/>
          <p:nvPr/>
        </p:nvSpPr>
        <p:spPr>
          <a:xfrm>
            <a:off x="8804426" y="3539087"/>
            <a:ext cx="34930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# the last index value (-1) will not be used since there will be a loop over the reservoir layers (assuming the well is vertical) </a:t>
            </a:r>
            <a:endParaRPr lang="nl-NL" sz="1400" dirty="0"/>
          </a:p>
          <a:p>
            <a:endParaRPr lang="nl-NL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0999BB-046F-B8F3-D8B1-E9458044AA9E}"/>
              </a:ext>
            </a:extLst>
          </p:cNvPr>
          <p:cNvSpPr txBox="1"/>
          <p:nvPr/>
        </p:nvSpPr>
        <p:spPr>
          <a:xfrm>
            <a:off x="8876923" y="4353640"/>
            <a:ext cx="2915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# real coordinates for each well connection</a:t>
            </a:r>
            <a:endParaRPr lang="nl-NL" sz="1600" dirty="0"/>
          </a:p>
        </p:txBody>
      </p:sp>
    </p:spTree>
    <p:extLst>
      <p:ext uri="{BB962C8B-B14F-4D97-AF65-F5344CB8AC3E}">
        <p14:creationId xmlns:p14="http://schemas.microsoft.com/office/powerpoint/2010/main" val="2182708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E3464-3072-B0E7-FDC9-023E4E182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Well controls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338E8-7F51-4F72-2FD4-7C554316F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88163"/>
            <a:ext cx="2290764" cy="508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/>
              <a:t>Geothermal physics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09A3A8-0690-2ADE-D406-A614C7BDB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800725" cy="561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E3DEAB-D809-5052-BD35-49FDD76BC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90" y="2996163"/>
            <a:ext cx="6457667" cy="3518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2B9756-324D-6241-F07D-11D183A2332C}"/>
              </a:ext>
            </a:extLst>
          </p:cNvPr>
          <p:cNvSpPr txBox="1"/>
          <p:nvPr/>
        </p:nvSpPr>
        <p:spPr>
          <a:xfrm>
            <a:off x="7328711" y="3122628"/>
            <a:ext cx="3493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BHP control</a:t>
            </a:r>
            <a:endParaRPr lang="nl-NL" sz="1400" dirty="0"/>
          </a:p>
          <a:p>
            <a:endParaRPr lang="nl-NL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EAB4BA-3A6D-AE6E-500B-A260D25080D3}"/>
              </a:ext>
            </a:extLst>
          </p:cNvPr>
          <p:cNvSpPr txBox="1"/>
          <p:nvPr/>
        </p:nvSpPr>
        <p:spPr>
          <a:xfrm>
            <a:off x="7328711" y="3872557"/>
            <a:ext cx="3493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rate control</a:t>
            </a:r>
            <a:endParaRPr lang="nl-NL" sz="1400" dirty="0"/>
          </a:p>
          <a:p>
            <a:endParaRPr lang="nl-NL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B970D6-8C72-39A8-8C23-3B2212A27655}"/>
              </a:ext>
            </a:extLst>
          </p:cNvPr>
          <p:cNvSpPr txBox="1"/>
          <p:nvPr/>
        </p:nvSpPr>
        <p:spPr>
          <a:xfrm>
            <a:off x="7328711" y="4755506"/>
            <a:ext cx="4123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cyclic rate control (a thermal storage example)</a:t>
            </a:r>
            <a:endParaRPr lang="nl-NL" sz="1400" dirty="0"/>
          </a:p>
          <a:p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3132995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625F8-9297-4634-8C60-4EFBBD440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Simulation parameters</a:t>
            </a:r>
            <a:endParaRPr lang="nl-NL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7662AA8-14CC-839B-D0BD-FEF4A4897B3E}"/>
              </a:ext>
            </a:extLst>
          </p:cNvPr>
          <p:cNvSpPr txBox="1">
            <a:spLocks/>
          </p:cNvSpPr>
          <p:nvPr/>
        </p:nvSpPr>
        <p:spPr>
          <a:xfrm>
            <a:off x="754624" y="1563529"/>
            <a:ext cx="10515600" cy="50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Time stepping and convergence parameters (case_base.py)</a:t>
            </a:r>
            <a:endParaRPr lang="nl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BF2109-BDDD-B131-1474-4A9EFE28D60F}"/>
              </a:ext>
            </a:extLst>
          </p:cNvPr>
          <p:cNvSpPr txBox="1"/>
          <p:nvPr/>
        </p:nvSpPr>
        <p:spPr>
          <a:xfrm>
            <a:off x="752169" y="51818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redirect_darts_output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nl-NL" altLang="nl-NL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os.path.join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(</a:t>
            </a:r>
            <a:r>
              <a:rPr kumimoji="0" lang="nl-NL" altLang="nl-NL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out_dir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, 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</a:rPr>
              <a:t>'run.log'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))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6A02FFA-1715-1634-23B9-DD028D96C745}"/>
              </a:ext>
            </a:extLst>
          </p:cNvPr>
          <p:cNvSpPr txBox="1">
            <a:spLocks/>
          </p:cNvSpPr>
          <p:nvPr/>
        </p:nvSpPr>
        <p:spPr>
          <a:xfrm>
            <a:off x="752169" y="4694427"/>
            <a:ext cx="10515600" cy="50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Log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23B43B-5AE5-79A3-23BB-0B265CC0B9EF}"/>
              </a:ext>
            </a:extLst>
          </p:cNvPr>
          <p:cNvSpPr txBox="1"/>
          <p:nvPr/>
        </p:nvSpPr>
        <p:spPr>
          <a:xfrm>
            <a:off x="838200" y="5932016"/>
            <a:ext cx="1017638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Set number of CPU cores </a:t>
            </a:r>
          </a:p>
          <a:p>
            <a:r>
              <a:rPr lang="nl-NL" sz="1800" dirty="0">
                <a:hlinkClick r:id="rId2"/>
              </a:rPr>
              <a:t>https://open-darts.gitlab.io/open-DARTS/for_developers/configure_hardware.html</a:t>
            </a:r>
            <a:r>
              <a:rPr lang="en-GB" sz="1800" dirty="0"/>
              <a:t> </a:t>
            </a:r>
            <a:endParaRPr lang="nl-NL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9C123-1437-3735-3C3C-A2A918E65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121" y="2133600"/>
            <a:ext cx="48387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587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8949-B39D-1A44-C303-99A9FBF67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Running the simulation (main.py)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55BBB-89BA-F321-1AFA-4DBE09D5D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047" y="1690688"/>
            <a:ext cx="3100058" cy="9239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Create the model: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2D0F7B-DA44-B0A3-FDE8-9839B17B4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360" y="1644695"/>
            <a:ext cx="5857875" cy="11049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AEAC31-53D3-4A14-55D3-E9B7E54B1FBA}"/>
              </a:ext>
            </a:extLst>
          </p:cNvPr>
          <p:cNvSpPr/>
          <p:nvPr/>
        </p:nvSpPr>
        <p:spPr>
          <a:xfrm>
            <a:off x="4294360" y="3025061"/>
            <a:ext cx="3301497" cy="589090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8648C61-5359-FE4A-C824-C1CF47C3A74D}"/>
              </a:ext>
            </a:extLst>
          </p:cNvPr>
          <p:cNvSpPr/>
          <p:nvPr/>
        </p:nvSpPr>
        <p:spPr>
          <a:xfrm>
            <a:off x="4294360" y="1616458"/>
            <a:ext cx="5648324" cy="1229365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AF7A65-5E46-1FD7-252B-FCDD1E8C0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728" y="3086479"/>
            <a:ext cx="2869875" cy="40816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01F8CFE-8F8F-F791-C29F-9F183B6D682F}"/>
              </a:ext>
            </a:extLst>
          </p:cNvPr>
          <p:cNvGrpSpPr/>
          <p:nvPr/>
        </p:nvGrpSpPr>
        <p:grpSpPr>
          <a:xfrm>
            <a:off x="4294359" y="4001294"/>
            <a:ext cx="4061990" cy="2744505"/>
            <a:chOff x="931208" y="4012178"/>
            <a:chExt cx="3658530" cy="274450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1E48C31-A7DF-843D-B0D9-11EEB0ADDF00}"/>
                </a:ext>
              </a:extLst>
            </p:cNvPr>
            <p:cNvSpPr/>
            <p:nvPr/>
          </p:nvSpPr>
          <p:spPr>
            <a:xfrm>
              <a:off x="931208" y="4012178"/>
              <a:ext cx="3658530" cy="2744505"/>
            </a:xfrm>
            <a:prstGeom prst="round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4ED1F23-B7E5-D8D7-F5C5-6BEC0849D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7311" y="4065473"/>
              <a:ext cx="2749785" cy="2677535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5AAA222-7E0F-2878-99BB-329FB389ED7A}"/>
              </a:ext>
            </a:extLst>
          </p:cNvPr>
          <p:cNvSpPr txBox="1"/>
          <p:nvPr/>
        </p:nvSpPr>
        <p:spPr>
          <a:xfrm>
            <a:off x="897047" y="3105893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dirty="0"/>
              <a:t>Run the simulation: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AB6865-AC8E-3F69-A86D-EEE1C0253642}"/>
              </a:ext>
            </a:extLst>
          </p:cNvPr>
          <p:cNvSpPr txBox="1"/>
          <p:nvPr/>
        </p:nvSpPr>
        <p:spPr>
          <a:xfrm>
            <a:off x="897047" y="4075158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dirty="0"/>
              <a:t>Choose cases to run: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physics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geometry and properties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well control type</a:t>
            </a:r>
          </a:p>
        </p:txBody>
      </p:sp>
    </p:spTree>
    <p:extLst>
      <p:ext uri="{BB962C8B-B14F-4D97-AF65-F5344CB8AC3E}">
        <p14:creationId xmlns:p14="http://schemas.microsoft.com/office/powerpoint/2010/main" val="3911266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2BDB7-DD66-BBC0-1680-C6452C220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Well results (</a:t>
            </a:r>
            <a:r>
              <a:rPr lang="en-GB" dirty="0" err="1"/>
              <a:t>time_data</a:t>
            </a:r>
            <a:r>
              <a:rPr lang="en-GB" dirty="0"/>
              <a:t>)</a:t>
            </a:r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EB4DD9-A2C4-74DA-8719-B70CE8A1B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087" y="2205037"/>
            <a:ext cx="6562725" cy="4067175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2503BB-2E0F-A3B1-42D9-F20B63DC0E6B}"/>
              </a:ext>
            </a:extLst>
          </p:cNvPr>
          <p:cNvSpPr/>
          <p:nvPr/>
        </p:nvSpPr>
        <p:spPr>
          <a:xfrm>
            <a:off x="2040062" y="3704029"/>
            <a:ext cx="6168774" cy="172646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604C7F-4AD6-1117-7B94-260012ED7E6F}"/>
              </a:ext>
            </a:extLst>
          </p:cNvPr>
          <p:cNvSpPr/>
          <p:nvPr/>
        </p:nvSpPr>
        <p:spPr>
          <a:xfrm>
            <a:off x="2040062" y="5174446"/>
            <a:ext cx="6168774" cy="172646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07D0DD-04B6-CDDB-72A0-03FDAF6EEF8B}"/>
              </a:ext>
            </a:extLst>
          </p:cNvPr>
          <p:cNvSpPr/>
          <p:nvPr/>
        </p:nvSpPr>
        <p:spPr>
          <a:xfrm>
            <a:off x="2040062" y="5999554"/>
            <a:ext cx="6168774" cy="172646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ABCACBF-6FE1-8F70-3888-DE059139CC07}"/>
              </a:ext>
            </a:extLst>
          </p:cNvPr>
          <p:cNvSpPr txBox="1">
            <a:spLocks/>
          </p:cNvSpPr>
          <p:nvPr/>
        </p:nvSpPr>
        <p:spPr>
          <a:xfrm>
            <a:off x="8602787" y="5006769"/>
            <a:ext cx="3181350" cy="50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/>
              <a:t>Contains all timesteps</a:t>
            </a:r>
          </a:p>
          <a:p>
            <a:endParaRPr lang="nl-NL" sz="200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3A7126C-5845-DE7B-B70F-D9CC5731347E}"/>
              </a:ext>
            </a:extLst>
          </p:cNvPr>
          <p:cNvSpPr txBox="1">
            <a:spLocks/>
          </p:cNvSpPr>
          <p:nvPr/>
        </p:nvSpPr>
        <p:spPr>
          <a:xfrm>
            <a:off x="8602787" y="5918200"/>
            <a:ext cx="3181350" cy="50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/>
              <a:t>Contains only report  timesteps</a:t>
            </a:r>
          </a:p>
          <a:p>
            <a:endParaRPr lang="nl-NL" sz="20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FEB7310-876F-6E8C-FE08-B56E87F2D310}"/>
              </a:ext>
            </a:extLst>
          </p:cNvPr>
          <p:cNvSpPr txBox="1">
            <a:spLocks/>
          </p:cNvSpPr>
          <p:nvPr/>
        </p:nvSpPr>
        <p:spPr>
          <a:xfrm>
            <a:off x="8602787" y="3550444"/>
            <a:ext cx="3181350" cy="50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Add well result of the current timestep to the report</a:t>
            </a:r>
          </a:p>
          <a:p>
            <a:endParaRPr lang="nl-NL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7910C43-C766-F8B5-B63E-1F94A3B9042C}"/>
              </a:ext>
            </a:extLst>
          </p:cNvPr>
          <p:cNvSpPr txBox="1">
            <a:spLocks/>
          </p:cNvSpPr>
          <p:nvPr/>
        </p:nvSpPr>
        <p:spPr>
          <a:xfrm>
            <a:off x="8602787" y="2094119"/>
            <a:ext cx="3181350" cy="50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Timestep loop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981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1112</Words>
  <Application>Microsoft Office PowerPoint</Application>
  <PresentationFormat>Widescreen</PresentationFormat>
  <Paragraphs>164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Arial Unicode MS</vt:lpstr>
      <vt:lpstr>Calibri</vt:lpstr>
      <vt:lpstr>Office Theme</vt:lpstr>
      <vt:lpstr>The model description</vt:lpstr>
      <vt:lpstr>DARTS Model and inheritance</vt:lpstr>
      <vt:lpstr>Case files</vt:lpstr>
      <vt:lpstr>Grid generation</vt:lpstr>
      <vt:lpstr>Model</vt:lpstr>
      <vt:lpstr>CPG Reservoir</vt:lpstr>
      <vt:lpstr>Over- and underburden layers generation</vt:lpstr>
      <vt:lpstr>Over- and underburden rock properties</vt:lpstr>
      <vt:lpstr>Fault transmissibility multipliers</vt:lpstr>
      <vt:lpstr>Boundary conditions</vt:lpstr>
      <vt:lpstr>Initial conditions (geothermal physics)</vt:lpstr>
      <vt:lpstr>Initial conditions (deadoil physics)</vt:lpstr>
      <vt:lpstr>Well perforations</vt:lpstr>
      <vt:lpstr>Well controls</vt:lpstr>
      <vt:lpstr>Simulation parameters</vt:lpstr>
      <vt:lpstr>Running the simulation (main.py)</vt:lpstr>
      <vt:lpstr>Well results (time_data)</vt:lpstr>
    </vt:vector>
  </TitlesOfParts>
  <Company>TU Delft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Ilshat Saifullin</dc:creator>
  <cp:lastModifiedBy>Ilshat Saifullin</cp:lastModifiedBy>
  <cp:revision>37</cp:revision>
  <dcterms:created xsi:type="dcterms:W3CDTF">2024-09-15T08:31:12Z</dcterms:created>
  <dcterms:modified xsi:type="dcterms:W3CDTF">2025-02-27T16:31:26Z</dcterms:modified>
</cp:coreProperties>
</file>